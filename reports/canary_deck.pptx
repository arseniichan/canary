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0:25.
SAY:
"I'm Arsenii Chan. The question I built this project around is a simple one: can a computer reading the words in a public company's annual report tell you which companies turned out to be committing accounting fraud? Six famous cases. One specific test. Let me show you what came back."
(Pause. Click to slide 2.)
STAGE NOTES:
- Don't announce the conclusion. Don't say "honestly" or "negative result"; both pre-spoil the talk.
- Open with the question. The audience leans forward.
- No jargon out loud: never say "autoencoder" or "MD&amp;A" aloud. Keep them on the slide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0:45.
SAY:
"Six historical fraud cases: Enron, WorldCom, Tyco, HealthSouth, Valeant, Lehman Brothers. Each one paired against companies in the same industry, same year, that turned out to be clean.
The model never sees the word 'fraud' during training. It just learns what a typical annual report from that industry and year looks like, and ranks the ones that look most unusual against their peers.
The formal question is on the slide [point at pull-quote]. The one-line answer this report defends is on the next bullet [point at it]. I'll spend the rest of the talk on the evidence."
(Click to slide 3.)
STAGE NOTES:
- Don't read the pull-quote out loud. It's full of jargon and the audience can read it faster than you can speak it. Just point.
- Same with the one-line answer. Pointing is faster than reading.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0:50. THIS IS THE MOST IMPORTANT SLIDE. SLOW DOWN.
SAY:
"Before I show you any number, I want to put the methodology on the table. The methodology is what makes the result mean anything.
Three rules I locked in BEFORE I ran the test. [point at columns]
One: the model never sees a fraud during training. For each fraud case, the model trains on clean filings from OTHER cases. The fraud being tested is held out.
Two: the model never sees the future. Within that training set, only filings dated on or before the fraud's filing date are eligible. The model can't be informed by language that came out AFTER the fraud was discovered.
Three: single pass, no tuning. Architecture, hyperparameters, the test set: all written down and locked into the repo BEFORE the test ran. [point at git-tag panel:] Top right shows the actual lock, committed and tagged on May 1st, before any result came in.
Test ran once. Whatever it said, that's the result."
(Click to slide 4.)
STAGE NOTES:
- The git-tag panel is small. Say "top right shows" rather than gesturing at the podium.
- If anyone in the room knows what pre-registration is, this is where you've already won them over.
- Avoid jargon: don't say "LOCO" or "MiniLM" aloud. Say "leave-one-out" or "the embedding model" if pressed.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1:00.
SAY:
"Here's what came back. Five cases evaluable, one excluded; I'll come back to the excluded one.
[point at Lehman row] Only Lehman lands in the top three within its peer group. Three out of thirteen. The statistical test is highly significant, BUT the effect size is small [point at warning glyph]. Both numbers matter; reporting either one alone is misleading.
[quick scan with hand] The other four (HealthSouth, Valeant, Tyco, WorldCom) all rank no better than random expectation. The test goes the OPPOSITE direction from what we'd want. Aggregate hit rates fall at or below random.
Now, Enron. [point at italicized row] Enron's filing date is April 2nd, 2001. Every other peer in every other case is dated later. Under the strict rule I locked in, Enron has no eligible training data.
So I had a choice: relax the rule and rerun, or report the exclusion. I reported the exclusion. The pre-registered design was infeasible for Enron, and I didn't catch that before I locked the spec. That's a finding about pre-registration, not about fraud detection."
(Click to slide 5.)
STAGE NOTES:
- Hands ON the slide. Don't quote numbers from memory; point at them on the projection.
- The Enron exclusion is the most likely Q&amp;A target. Pre-empt it: "I had a choice: relax the rule or report the exclusion. I reported the exclusion."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1:10. THIS IS THE LEDE OF THE TALK. DON'T RUSH.
SAY:
"Now the part that I think actually matters.
After the test ran, I asked myself the question every machine-learning paper should answer and most don't: would a method from before I was born produce the same result?
So I ran one. [point at chart] A simple word-counting method with the same compression step. The kind of thing you could have written in 1995 from a textbook. Same training data, same statistical tests, same pipeline shape. No neural network. No transformer.
[point at chart] On four of five cases, the 1995 method TIES the modern one. [point at Lehman bar] On Lehman, the one case the modern method got, the 1995 method gets it BETTER. The p-value is many orders of magnitude smaller.
Let me say what I'm not saying and then what I am saying.
I am NOT saying the modern method is broken, or that neural networks are unhelpful for this kind of problem.
I AM saying that on these five cases, with the rules I locked in, the modern method did not show a measurable advantage over a method I could have run in 1995.
If you take one thing from this talk, this is it: a sharp baseline isn't optional. A result that loses to a baseline is not evidence for the neural model."
(Click to slide 6.)
STAGE NOTES:
- The "before I was born" / "1995" framing is the kill line. Practice deadpan delivery.
- If the room is silent after, that's fine. Keep going.
- The "I am not saying / I am saying" structure prevents the misread "the AI didn't work."
- Don't say "TF-IDF" or "truncated SVD" aloud unless someone asks. "1995 method" or "simple word-counting method" is the spoken phrase. The slide and chart already show the technical names.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0:40. SPEED.
SAY:
"Three questions I expect, with quick answers so we have time for whatever else you actually want to ask.
Did you check a trivial baseline? Yes. Same compression dimension, same training data. The 1995 baseline matches or beats the modern method on every case. The honest claim is that the modern method adds nothing here. Slide 5.
The baseline is post-hoc, isn't that HARKing? The pre-registered hypothesis was about the modern method, and that result is reported unchanged. The 1995 baseline was added after seeing the null and is reported as post-hoc. The primary null doesn't depend on it.
Could the embedding model have memorized 'Lehman' or 'Repo 105'? I tested that. I masked 93 such mentions in Lehman's filing with a placeholder and re-scored. Lehman's rank held at 3 out of 13. Exact-token name leakage doesn't explain the rank."
(Click to slide 7.)
STAGE NOTES:
- Three Q&amp;As live on slide. The Enron exclusion question is best handled in actual Q&amp;A if asked (already covered on slide 4).
- Don't try to deliver all three under pressure if you're running long. Two minimum.
- If asked about supervised classifier: "At six fraud examples a supervised classifier overfits trivially. Future work."
- If asked about the parser: "Five failures are pre-2001 peer filings. All six fraud filings parsed at 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0:45. LAND THE URLs CLEANLY. PAUSE ONE BEAT AFTER "THANKS."
SAY:
"Two takeaways.
What survived: pre-registration. The contract held. I didn't iterate the model, I didn't redefine 'clean,' I didn't retreat from the Enron exclusion when the result was uncomfortable.
What failed: the modern method beyond the 1990s baseline. A result that loses to a baseline is not evidence for the neural model.
The next experiment is on the slide: same model, same filings, but compare the company against ITSELF across years instead of against peers. That's the falsifiable next step this study couldn't run.
[point at footer] Try the pipeline at the link below: paste any annual report, see how it scores against the five fraud cases. Code is on GitHub. The frozen-spec git tag is in the repo.
Thanks. Happy to take questions."
(End. Open Q&amp;A.)
STAGE NOTES:
- Pause for ONE beat after "Thanks." Don't run into the next sentence.
- Look UP at the audience for the URL line. That's the call-to-action.
- If you've delivered slides 1 through 7 cleanly, your face should look calm.
Q&amp;A FALLBACK LINE if you don't know an answer:
"That's a real gap I haven't characterized. Let me follow up after the talk."
Don't fake numbers under pressure. "I don't know" is graduate-school behavior, not weakness.
TIME TARGETS:
Slide 1: 0:25  |  Slide 2: 0:45  |  Slide 3: 0:50  |  Slide 4: 1:00
Slide 5: 1:10  |  Slide 6: 0:40  |  Slide 7: 0:45
Total target: 5:35.  Hard ceiling: 6:55.  Buffer: 1:25.
IF RUNNING LONG, CUTS:
- Drop "I am not saying / I am saying" on Slide 5 (saves 15 seconds)
- Skip third Q&amp;A on Slide 6 (saves 15 seconds)
- Skip next-experiment line on Slide 7 (saves 10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A33"/>
        </a:solidFill>
      </p:bgPr>
    </p:bg>
    <p:spTree>
      <p:nvGrpSpPr>
        <p:cNvPr id="1" name=""/>
        <p:cNvGrpSpPr/>
        <p:nvPr/>
      </p:nvGrpSpPr>
      <p:grpSpPr>
        <a:xfrm>
          <a:off x="0" y="0"/>
          <a:ext cx="0" cy="0"/>
          <a:chOff x="0" y="0"/>
          <a:chExt cx="0" cy="0"/>
        </a:xfrm>
      </p:grpSpPr>
      <p:sp>
        <p:nvSpPr>
          <p:cNvPr id="2" name="Text 0"/>
          <p:cNvSpPr/>
          <p:nvPr/>
        </p:nvSpPr>
        <p:spPr>
          <a:xfrm>
            <a:off x="640080" y="502920"/>
            <a:ext cx="10972800" cy="365760"/>
          </a:xfrm>
          <a:prstGeom prst="rect">
            <a:avLst/>
          </a:prstGeom>
          <a:noFill/>
          <a:ln/>
        </p:spPr>
        <p:txBody>
          <a:bodyPr wrap="square" rtlCol="0" anchor="ctr"/>
          <a:lstStyle/>
          <a:p>
            <a:pPr indent="0" marL="0">
              <a:buNone/>
            </a:pPr>
            <a:r>
              <a:rPr lang="en-US" sz="1400" b="1" spc="1200" kern="0" dirty="0">
                <a:solidFill>
                  <a:srgbClr val="D4A017"/>
                </a:solidFill>
                <a:latin typeface="Calibri" pitchFamily="34" charset="0"/>
                <a:ea typeface="Calibri" pitchFamily="34" charset="-122"/>
                <a:cs typeface="Calibri" pitchFamily="34" charset="-120"/>
              </a:rPr>
              <a:t>CANARY</a:t>
            </a:r>
            <a:endParaRPr lang="en-US" sz="1400" dirty="0"/>
          </a:p>
        </p:txBody>
      </p:sp>
      <p:sp>
        <p:nvSpPr>
          <p:cNvPr id="3" name="Text 1"/>
          <p:cNvSpPr/>
          <p:nvPr/>
        </p:nvSpPr>
        <p:spPr>
          <a:xfrm>
            <a:off x="640080" y="1188720"/>
            <a:ext cx="10972800" cy="1645920"/>
          </a:xfrm>
          <a:prstGeom prst="rect">
            <a:avLst/>
          </a:prstGeom>
          <a:noFill/>
          <a:ln/>
        </p:spPr>
        <p:txBody>
          <a:bodyPr wrap="square" rtlCol="0" anchor="t"/>
          <a:lstStyle/>
          <a:p>
            <a:pPr indent="0" marL="0">
              <a:lnSpc>
                <a:spcPct val="115000"/>
              </a:lnSpc>
              <a:buNone/>
            </a:pPr>
            <a:r>
              <a:rPr lang="en-US" sz="3000" dirty="0">
                <a:solidFill>
                  <a:srgbClr val="FFFFFF"/>
                </a:solidFill>
                <a:latin typeface="Georgia" pitchFamily="34" charset="0"/>
                <a:ea typeface="Georgia" pitchFamily="34" charset="-122"/>
                <a:cs typeface="Georgia" pitchFamily="34" charset="-120"/>
              </a:rPr>
              <a:t>Can a computer reading a company's annual report</a:t>
            </a:r>
            <a:endParaRPr lang="en-US" sz="3000" dirty="0"/>
          </a:p>
          <a:p>
            <a:pPr indent="0" marL="0">
              <a:lnSpc>
                <a:spcPct val="115000"/>
              </a:lnSpc>
              <a:buNone/>
            </a:pPr>
            <a:r>
              <a:rPr lang="en-US" sz="3000" dirty="0">
                <a:solidFill>
                  <a:srgbClr val="FFFFFF"/>
                </a:solidFill>
                <a:latin typeface="Georgia" pitchFamily="34" charset="0"/>
                <a:ea typeface="Georgia" pitchFamily="34" charset="-122"/>
                <a:cs typeface="Georgia" pitchFamily="34" charset="-120"/>
              </a:rPr>
              <a:t>tell which ones turned out to be committing accounting fraud?</a:t>
            </a:r>
            <a:endParaRPr lang="en-US" sz="3000" dirty="0"/>
          </a:p>
        </p:txBody>
      </p:sp>
      <p:sp>
        <p:nvSpPr>
          <p:cNvPr id="4" name="Shape 2"/>
          <p:cNvSpPr/>
          <p:nvPr/>
        </p:nvSpPr>
        <p:spPr>
          <a:xfrm>
            <a:off x="640080" y="3108960"/>
            <a:ext cx="1097280" cy="45720"/>
          </a:xfrm>
          <a:prstGeom prst="rect">
            <a:avLst/>
          </a:prstGeom>
          <a:solidFill>
            <a:srgbClr val="D4A017"/>
          </a:solidFill>
          <a:ln w="12700">
            <a:solidFill>
              <a:srgbClr val="D4A017"/>
            </a:solidFill>
            <a:prstDash val="solid"/>
          </a:ln>
        </p:spPr>
      </p:sp>
      <p:sp>
        <p:nvSpPr>
          <p:cNvPr id="5" name="Text 3"/>
          <p:cNvSpPr/>
          <p:nvPr/>
        </p:nvSpPr>
        <p:spPr>
          <a:xfrm>
            <a:off x="640080" y="3291840"/>
            <a:ext cx="10972800" cy="365760"/>
          </a:xfrm>
          <a:prstGeom prst="rect">
            <a:avLst/>
          </a:prstGeom>
          <a:noFill/>
          <a:ln/>
        </p:spPr>
        <p:txBody>
          <a:bodyPr wrap="square" rtlCol="0" anchor="ctr"/>
          <a:lstStyle/>
          <a:p>
            <a:pPr indent="0" marL="0">
              <a:buNone/>
            </a:pPr>
            <a:r>
              <a:rPr lang="en-US" sz="1600" i="1" dirty="0">
                <a:solidFill>
                  <a:srgbClr val="CFD8E8"/>
                </a:solidFill>
                <a:latin typeface="Georgia" pitchFamily="34" charset="0"/>
                <a:ea typeface="Georgia" pitchFamily="34" charset="-122"/>
                <a:cs typeface="Georgia" pitchFamily="34" charset="-120"/>
              </a:rPr>
              <a:t>A pre-registered novelty study on SEC 10-K filings.</a:t>
            </a:r>
            <a:endParaRPr lang="en-US" sz="1600" dirty="0"/>
          </a:p>
        </p:txBody>
      </p:sp>
      <p:sp>
        <p:nvSpPr>
          <p:cNvPr id="6" name="Text 4"/>
          <p:cNvSpPr/>
          <p:nvPr/>
        </p:nvSpPr>
        <p:spPr>
          <a:xfrm>
            <a:off x="640080" y="4023360"/>
            <a:ext cx="10972800" cy="411480"/>
          </a:xfrm>
          <a:prstGeom prst="rect">
            <a:avLst/>
          </a:prstGeom>
          <a:noFill/>
          <a:ln/>
        </p:spPr>
        <p:txBody>
          <a:bodyPr wrap="square"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Trained: </a:t>
            </a:r>
            <a:pPr indent="0" marL="0">
              <a:buNone/>
            </a:pPr>
            <a:r>
              <a:rPr lang="en-US" sz="1500" dirty="0">
                <a:solidFill>
                  <a:srgbClr val="FFFFFF"/>
                </a:solidFill>
                <a:latin typeface="Calibri" pitchFamily="34" charset="0"/>
                <a:ea typeface="Calibri" pitchFamily="34" charset="-122"/>
                <a:cs typeface="Calibri" pitchFamily="34" charset="-120"/>
              </a:rPr>
              <a:t>five small autoencoders in PyTorch, one per held-out fraud cohort.</a:t>
            </a:r>
            <a:endParaRPr lang="en-US" sz="1500" dirty="0"/>
          </a:p>
        </p:txBody>
      </p:sp>
      <p:sp>
        <p:nvSpPr>
          <p:cNvPr id="7" name="Text 5"/>
          <p:cNvSpPr/>
          <p:nvPr/>
        </p:nvSpPr>
        <p:spPr>
          <a:xfrm>
            <a:off x="640080" y="4434840"/>
            <a:ext cx="10972800" cy="411480"/>
          </a:xfrm>
          <a:prstGeom prst="rect">
            <a:avLst/>
          </a:prstGeom>
          <a:noFill/>
          <a:ln/>
        </p:spPr>
        <p:txBody>
          <a:bodyPr wrap="square"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Reused: </a:t>
            </a:r>
            <a:pPr indent="0" marL="0">
              <a:buNone/>
            </a:pPr>
            <a:r>
              <a:rPr lang="en-US" sz="1500" dirty="0">
                <a:solidFill>
                  <a:srgbClr val="FFFFFF"/>
                </a:solidFill>
                <a:latin typeface="Calibri" pitchFamily="34" charset="0"/>
                <a:ea typeface="Calibri" pitchFamily="34" charset="-122"/>
                <a:cs typeface="Calibri" pitchFamily="34" charset="-120"/>
              </a:rPr>
              <a:t>a pretrained MiniLM transformer, frozen, as a sentence-to-vector encoder.</a:t>
            </a:r>
            <a:endParaRPr lang="en-US" sz="1500" dirty="0"/>
          </a:p>
        </p:txBody>
      </p:sp>
      <p:sp>
        <p:nvSpPr>
          <p:cNvPr id="8" name="Text 6"/>
          <p:cNvSpPr/>
          <p:nvPr/>
        </p:nvSpPr>
        <p:spPr>
          <a:xfrm>
            <a:off x="640080" y="4846320"/>
            <a:ext cx="10972800" cy="411480"/>
          </a:xfrm>
          <a:prstGeom prst="rect">
            <a:avLst/>
          </a:prstGeom>
          <a:noFill/>
          <a:ln/>
        </p:spPr>
        <p:txBody>
          <a:bodyPr wrap="square"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Tested: </a:t>
            </a:r>
            <a:pPr indent="0" marL="0">
              <a:buNone/>
            </a:pPr>
            <a:r>
              <a:rPr lang="en-US" sz="1500" dirty="0">
                <a:solidFill>
                  <a:srgbClr val="FFFFFF"/>
                </a:solidFill>
                <a:latin typeface="Calibri" pitchFamily="34" charset="0"/>
                <a:ea typeface="Calibri" pitchFamily="34" charset="-122"/>
                <a:cs typeface="Calibri" pitchFamily="34" charset="-120"/>
              </a:rPr>
              <a:t>six historical accounting frauds; methodology locked in git before any number was looked at.</a:t>
            </a:r>
            <a:endParaRPr lang="en-US" sz="1500" dirty="0"/>
          </a:p>
        </p:txBody>
      </p:sp>
      <p:sp>
        <p:nvSpPr>
          <p:cNvPr id="9" name="Text 7"/>
          <p:cNvSpPr/>
          <p:nvPr/>
        </p:nvSpPr>
        <p:spPr>
          <a:xfrm>
            <a:off x="640080" y="5943600"/>
            <a:ext cx="8229600" cy="36576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Arsenii Chan</a:t>
            </a:r>
            <a:pPr indent="0" marL="0">
              <a:buNone/>
            </a:pPr>
            <a:r>
              <a:rPr lang="en-US" sz="1400" dirty="0">
                <a:solidFill>
                  <a:srgbClr val="CFD8E8"/>
                </a:solidFill>
                <a:latin typeface="Calibri" pitchFamily="34" charset="0"/>
                <a:ea typeface="Calibri" pitchFamily="34" charset="-122"/>
                <a:cs typeface="Calibri" pitchFamily="34" charset="-120"/>
              </a:rPr>
              <a:t>   ·   CSC 44800 Artificial Intelligence</a:t>
            </a:r>
            <a:pPr indent="0" marL="0">
              <a:buNone/>
            </a:pPr>
            <a:r>
              <a:rPr lang="en-US" sz="1400" dirty="0">
                <a:solidFill>
                  <a:srgbClr val="CFD8E8"/>
                </a:solidFill>
                <a:latin typeface="Calibri" pitchFamily="34" charset="0"/>
                <a:ea typeface="Calibri" pitchFamily="34" charset="-122"/>
                <a:cs typeface="Calibri" pitchFamily="34" charset="-120"/>
              </a:rPr>
              <a:t>   ·   Spring 2026 · CCNY</a:t>
            </a:r>
            <a:endParaRPr lang="en-US" sz="1400" dirty="0"/>
          </a:p>
        </p:txBody>
      </p:sp>
      <p:pic>
        <p:nvPicPr>
          <p:cNvPr id="10" name="Image 0" descr="/Users/arseniichan/Documents/Claude/Projects/CSC448/canary/reports/figures/qr_demo.png">    </p:cNvPr>
          <p:cNvPicPr>
            <a:picLocks noChangeAspect="1"/>
          </p:cNvPicPr>
          <p:nvPr/>
        </p:nvPicPr>
        <p:blipFill>
          <a:blip r:embed="rId1"/>
          <a:stretch>
            <a:fillRect/>
          </a:stretch>
        </p:blipFill>
        <p:spPr>
          <a:xfrm>
            <a:off x="10424160" y="5212080"/>
            <a:ext cx="1188720" cy="1188720"/>
          </a:xfrm>
          <a:prstGeom prst="rect">
            <a:avLst/>
          </a:prstGeom>
        </p:spPr>
      </p:pic>
      <p:sp>
        <p:nvSpPr>
          <p:cNvPr id="11" name="Text 8"/>
          <p:cNvSpPr/>
          <p:nvPr/>
        </p:nvSpPr>
        <p:spPr>
          <a:xfrm>
            <a:off x="10241280" y="6400800"/>
            <a:ext cx="1554480" cy="228600"/>
          </a:xfrm>
          <a:prstGeom prst="rect">
            <a:avLst/>
          </a:prstGeom>
          <a:noFill/>
          <a:ln/>
        </p:spPr>
        <p:txBody>
          <a:bodyPr wrap="square" rtlCol="0" anchor="ctr"/>
          <a:lstStyle/>
          <a:p>
            <a:pPr algn="ctr" indent="0" marL="0">
              <a:buNone/>
            </a:pPr>
            <a:r>
              <a:rPr lang="en-US" sz="900" i="1" dirty="0">
                <a:solidFill>
                  <a:srgbClr val="CFD8E8"/>
                </a:solidFill>
                <a:latin typeface="Calibri" pitchFamily="34" charset="0"/>
                <a:ea typeface="Calibri" pitchFamily="34" charset="-122"/>
                <a:cs typeface="Calibri" pitchFamily="34" charset="-120"/>
              </a:rPr>
              <a:t>scan to try</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972800" cy="274320"/>
          </a:xfrm>
          <a:prstGeom prst="rect">
            <a:avLst/>
          </a:prstGeom>
          <a:noFill/>
          <a:ln/>
        </p:spPr>
        <p:txBody>
          <a:bodyPr wrap="square" rtlCol="0" anchor="ctr"/>
          <a:lstStyle/>
          <a:p>
            <a:pPr indent="0" marL="0">
              <a:buNone/>
            </a:pPr>
            <a:r>
              <a:rPr lang="en-US" sz="1100" b="1" spc="400" kern="0" dirty="0">
                <a:solidFill>
                  <a:srgbClr val="5B7BB0"/>
                </a:solidFill>
                <a:latin typeface="Calibri" pitchFamily="34" charset="0"/>
                <a:ea typeface="Calibri" pitchFamily="34" charset="-122"/>
                <a:cs typeface="Calibri" pitchFamily="34" charset="-120"/>
              </a:rPr>
              <a:t>THE DRIVING QUESTION</a:t>
            </a:r>
            <a:endParaRPr lang="en-US" sz="1100" dirty="0"/>
          </a:p>
        </p:txBody>
      </p:sp>
      <p:sp>
        <p:nvSpPr>
          <p:cNvPr id="3" name="Shape 1"/>
          <p:cNvSpPr/>
          <p:nvPr/>
        </p:nvSpPr>
        <p:spPr>
          <a:xfrm>
            <a:off x="640080" y="868680"/>
            <a:ext cx="548640" cy="36576"/>
          </a:xfrm>
          <a:prstGeom prst="rect">
            <a:avLst/>
          </a:prstGeom>
          <a:solidFill>
            <a:srgbClr val="D4A017"/>
          </a:solidFill>
          <a:ln w="12700">
            <a:solidFill>
              <a:srgbClr val="D4A017"/>
            </a:solidFill>
            <a:prstDash val="solid"/>
          </a:ln>
        </p:spPr>
      </p:sp>
      <p:sp>
        <p:nvSpPr>
          <p:cNvPr id="4" name="Text 2"/>
          <p:cNvSpPr/>
          <p:nvPr/>
        </p:nvSpPr>
        <p:spPr>
          <a:xfrm>
            <a:off x="548640" y="1097280"/>
            <a:ext cx="914400" cy="1371600"/>
          </a:xfrm>
          <a:prstGeom prst="rect">
            <a:avLst/>
          </a:prstGeom>
          <a:noFill/>
          <a:ln/>
        </p:spPr>
        <p:txBody>
          <a:bodyPr wrap="square" rtlCol="0" anchor="ctr"/>
          <a:lstStyle/>
          <a:p>
            <a:pPr indent="0" marL="0">
              <a:buNone/>
            </a:pPr>
            <a:r>
              <a:rPr lang="en-US" sz="11000" dirty="0">
                <a:solidFill>
                  <a:srgbClr val="D4A017"/>
                </a:solidFill>
                <a:latin typeface="Georgia" pitchFamily="34" charset="0"/>
                <a:ea typeface="Georgia" pitchFamily="34" charset="-122"/>
                <a:cs typeface="Georgia" pitchFamily="34" charset="-120"/>
              </a:rPr>
              <a:t>"</a:t>
            </a:r>
            <a:endParaRPr lang="en-US" sz="11000" dirty="0"/>
          </a:p>
        </p:txBody>
      </p:sp>
      <p:sp>
        <p:nvSpPr>
          <p:cNvPr id="5" name="Text 3"/>
          <p:cNvSpPr/>
          <p:nvPr/>
        </p:nvSpPr>
        <p:spPr>
          <a:xfrm>
            <a:off x="1554480" y="1371600"/>
            <a:ext cx="10058400" cy="2377440"/>
          </a:xfrm>
          <a:prstGeom prst="rect">
            <a:avLst/>
          </a:prstGeom>
          <a:noFill/>
          <a:ln/>
        </p:spPr>
        <p:txBody>
          <a:bodyPr wrap="square" rtlCol="0" anchor="ctr"/>
          <a:lstStyle/>
          <a:p>
            <a:pPr indent="0" marL="0">
              <a:lnSpc>
                <a:spcPct val="125000"/>
              </a:lnSpc>
              <a:buNone/>
            </a:pPr>
            <a:r>
              <a:rPr lang="en-US" sz="2600" i="1" dirty="0">
                <a:solidFill>
                  <a:srgbClr val="0E1A33"/>
                </a:solidFill>
                <a:latin typeface="Georgia" pitchFamily="34" charset="0"/>
                <a:ea typeface="Georgia" pitchFamily="34" charset="-122"/>
                <a:cs typeface="Georgia" pitchFamily="34" charset="-120"/>
              </a:rPr>
              <a:t>Does an unsupervised autoencoder trained on industry-and-year-matched clean 10-K MD&amp;A text assign elevated reconstruction error to known historical fraud filings, under strictly out-of-sample evaluation?</a:t>
            </a:r>
            <a:endParaRPr lang="en-US" sz="2600" dirty="0"/>
          </a:p>
        </p:txBody>
      </p:sp>
      <p:sp>
        <p:nvSpPr>
          <p:cNvPr id="6" name="Shape 4"/>
          <p:cNvSpPr/>
          <p:nvPr/>
        </p:nvSpPr>
        <p:spPr>
          <a:xfrm>
            <a:off x="640080" y="4114800"/>
            <a:ext cx="1097280" cy="36576"/>
          </a:xfrm>
          <a:prstGeom prst="rect">
            <a:avLst/>
          </a:prstGeom>
          <a:solidFill>
            <a:srgbClr val="D4A017"/>
          </a:solidFill>
          <a:ln w="12700">
            <a:solidFill>
              <a:srgbClr val="D4A017"/>
            </a:solidFill>
            <a:prstDash val="solid"/>
          </a:ln>
        </p:spPr>
      </p:sp>
      <p:sp>
        <p:nvSpPr>
          <p:cNvPr id="7" name="Text 5"/>
          <p:cNvSpPr/>
          <p:nvPr/>
        </p:nvSpPr>
        <p:spPr>
          <a:xfrm>
            <a:off x="640080" y="4297680"/>
            <a:ext cx="10972800" cy="365760"/>
          </a:xfrm>
          <a:prstGeom prst="rect">
            <a:avLst/>
          </a:prstGeom>
          <a:noFill/>
          <a:ln/>
        </p:spPr>
        <p:txBody>
          <a:bodyPr wrap="square" rtlCol="0" anchor="ctr"/>
          <a:lstStyle/>
          <a:p>
            <a:pPr indent="0" marL="0">
              <a:buNone/>
            </a:pPr>
            <a:r>
              <a:rPr lang="en-US" sz="1300" b="1" dirty="0">
                <a:solidFill>
                  <a:srgbClr val="555555"/>
                </a:solidFill>
                <a:latin typeface="Calibri" pitchFamily="34" charset="0"/>
                <a:ea typeface="Calibri" pitchFamily="34" charset="-122"/>
                <a:cs typeface="Calibri" pitchFamily="34" charset="-120"/>
              </a:rPr>
              <a:t>The one-line answer this report defends:</a:t>
            </a:r>
            <a:endParaRPr lang="en-US" sz="1300" dirty="0"/>
          </a:p>
        </p:txBody>
      </p:sp>
      <p:sp>
        <p:nvSpPr>
          <p:cNvPr id="8" name="Text 6"/>
          <p:cNvSpPr/>
          <p:nvPr/>
        </p:nvSpPr>
        <p:spPr>
          <a:xfrm>
            <a:off x="640080" y="4709160"/>
            <a:ext cx="10972800" cy="1554480"/>
          </a:xfrm>
          <a:prstGeom prst="rect">
            <a:avLst/>
          </a:prstGeom>
          <a:noFill/>
          <a:ln/>
        </p:spPr>
        <p:txBody>
          <a:bodyPr wrap="square" rtlCol="0" anchor="ctr"/>
          <a:lstStyle/>
          <a:p>
            <a:pPr indent="0" marL="0">
              <a:lnSpc>
                <a:spcPct val="130000"/>
              </a:lnSpc>
              <a:buNone/>
            </a:pPr>
            <a:r>
              <a:rPr lang="en-US" sz="1800" dirty="0">
                <a:solidFill>
                  <a:srgbClr val="1A1A1A"/>
                </a:solidFill>
                <a:latin typeface="Georgia" pitchFamily="34" charset="0"/>
                <a:ea typeface="Georgia" pitchFamily="34" charset="-122"/>
                <a:cs typeface="Georgia" pitchFamily="34" charset="-120"/>
              </a:rPr>
              <a:t>At N = 6 frauds, with strict pre-registration: no useful autoencoder signal across four of five evaluable cohorts; Enron is not evaluable under the frozen rule; the one cohort that ranks high (Lehman) is n = 1, and a 1990s TF-IDF baseline ranks it higher.</a:t>
            </a:r>
            <a:endParaRPr lang="en-US" sz="1800" dirty="0"/>
          </a:p>
        </p:txBody>
      </p:sp>
      <p:sp>
        <p:nvSpPr>
          <p:cNvPr id="9" name="Text 7"/>
          <p:cNvSpPr/>
          <p:nvPr/>
        </p:nvSpPr>
        <p:spPr>
          <a:xfrm>
            <a:off x="457200" y="6446520"/>
            <a:ext cx="7315200" cy="274320"/>
          </a:xfrm>
          <a:prstGeom prst="rect">
            <a:avLst/>
          </a:prstGeom>
          <a:noFill/>
          <a:ln/>
        </p:spPr>
        <p:txBody>
          <a:bodyPr wrap="square" rtlCol="0" anchor="ctr"/>
          <a:lstStyle/>
          <a:p>
            <a:pPr algn="l" indent="0" marL="0">
              <a:buNone/>
            </a:pPr>
            <a:r>
              <a:rPr lang="en-US" sz="1000" dirty="0">
                <a:solidFill>
                  <a:srgbClr val="8A8A8A"/>
                </a:solidFill>
                <a:latin typeface="Calibri" pitchFamily="34" charset="0"/>
                <a:ea typeface="Calibri" pitchFamily="34" charset="-122"/>
                <a:cs typeface="Calibri" pitchFamily="34" charset="-120"/>
              </a:rPr>
              <a:t>Canary  ·  Arsenii Chan  ·  CSC 44800</a:t>
            </a:r>
            <a:endParaRPr lang="en-US" sz="1000" dirty="0"/>
          </a:p>
        </p:txBody>
      </p:sp>
      <p:sp>
        <p:nvSpPr>
          <p:cNvPr id="10" name="Text 8"/>
          <p:cNvSpPr/>
          <p:nvPr/>
        </p:nvSpPr>
        <p:spPr>
          <a:xfrm>
            <a:off x="10817352" y="6446520"/>
            <a:ext cx="914400" cy="274320"/>
          </a:xfrm>
          <a:prstGeom prst="rect">
            <a:avLst/>
          </a:prstGeom>
          <a:noFill/>
          <a:ln/>
        </p:spPr>
        <p:txBody>
          <a:bodyPr wrap="square" rtlCol="0" anchor="ctr"/>
          <a:lstStyle/>
          <a:p>
            <a:pPr algn="r" indent="0" marL="0">
              <a:buNone/>
            </a:pPr>
            <a:r>
              <a:rPr lang="en-US" sz="1000" dirty="0">
                <a:solidFill>
                  <a:srgbClr val="8A8A8A"/>
                </a:solidFill>
                <a:latin typeface="Calibri" pitchFamily="34" charset="0"/>
                <a:ea typeface="Calibri" pitchFamily="34" charset="-122"/>
                <a:cs typeface="Calibri" pitchFamily="34" charset="-120"/>
              </a:rPr>
              <a:t>2 / 7</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8F4"/>
        </a:solidFill>
      </p:bgPr>
    </p:bg>
    <p:spTree>
      <p:nvGrpSpPr>
        <p:cNvPr id="1" name=""/>
        <p:cNvGrpSpPr/>
        <p:nvPr/>
      </p:nvGrpSpPr>
      <p:grpSpPr>
        <a:xfrm>
          <a:off x="0" y="0"/>
          <a:ext cx="0" cy="0"/>
          <a:chOff x="0" y="0"/>
          <a:chExt cx="0" cy="0"/>
        </a:xfrm>
      </p:grpSpPr>
      <p:sp>
        <p:nvSpPr>
          <p:cNvPr id="2" name="Text 0"/>
          <p:cNvSpPr/>
          <p:nvPr/>
        </p:nvSpPr>
        <p:spPr>
          <a:xfrm>
            <a:off x="640080" y="457200"/>
            <a:ext cx="10972800" cy="274320"/>
          </a:xfrm>
          <a:prstGeom prst="rect">
            <a:avLst/>
          </a:prstGeom>
          <a:noFill/>
          <a:ln/>
        </p:spPr>
        <p:txBody>
          <a:bodyPr wrap="square" rtlCol="0" anchor="ctr"/>
          <a:lstStyle/>
          <a:p>
            <a:pPr indent="0" marL="0">
              <a:buNone/>
            </a:pPr>
            <a:r>
              <a:rPr lang="en-US" sz="1100" b="1" spc="400" kern="0" dirty="0">
                <a:solidFill>
                  <a:srgbClr val="5B7BB0"/>
                </a:solidFill>
                <a:latin typeface="Calibri" pitchFamily="34" charset="0"/>
                <a:ea typeface="Calibri" pitchFamily="34" charset="-122"/>
                <a:cs typeface="Calibri" pitchFamily="34" charset="-120"/>
              </a:rPr>
              <a:t>THE METHODOLOGICAL CONTRACT</a:t>
            </a:r>
            <a:endParaRPr lang="en-US" sz="1100" dirty="0"/>
          </a:p>
        </p:txBody>
      </p:sp>
      <p:sp>
        <p:nvSpPr>
          <p:cNvPr id="3" name="Shape 1"/>
          <p:cNvSpPr/>
          <p:nvPr/>
        </p:nvSpPr>
        <p:spPr>
          <a:xfrm>
            <a:off x="640080" y="868680"/>
            <a:ext cx="548640" cy="36576"/>
          </a:xfrm>
          <a:prstGeom prst="rect">
            <a:avLst/>
          </a:prstGeom>
          <a:solidFill>
            <a:srgbClr val="D4A017"/>
          </a:solidFill>
          <a:ln w="12700">
            <a:solidFill>
              <a:srgbClr val="D4A017"/>
            </a:solidFill>
            <a:prstDash val="solid"/>
          </a:ln>
        </p:spPr>
      </p:sp>
      <p:sp>
        <p:nvSpPr>
          <p:cNvPr id="4" name="Text 2"/>
          <p:cNvSpPr/>
          <p:nvPr/>
        </p:nvSpPr>
        <p:spPr>
          <a:xfrm>
            <a:off x="640080" y="1005840"/>
            <a:ext cx="10972800" cy="640080"/>
          </a:xfrm>
          <a:prstGeom prst="rect">
            <a:avLst/>
          </a:prstGeom>
          <a:noFill/>
          <a:ln/>
        </p:spPr>
        <p:txBody>
          <a:bodyPr wrap="square" rtlCol="0" anchor="ctr"/>
          <a:lstStyle/>
          <a:p>
            <a:pPr indent="0" marL="0">
              <a:buNone/>
            </a:pPr>
            <a:r>
              <a:rPr lang="en-US" sz="3200" b="1" dirty="0">
                <a:solidFill>
                  <a:srgbClr val="0E1A33"/>
                </a:solidFill>
                <a:latin typeface="Georgia" pitchFamily="34" charset="0"/>
                <a:ea typeface="Georgia" pitchFamily="34" charset="-122"/>
                <a:cs typeface="Georgia" pitchFamily="34" charset="-120"/>
              </a:rPr>
              <a:t>The contract is the contribution.</a:t>
            </a:r>
            <a:endParaRPr lang="en-US" sz="3200" dirty="0"/>
          </a:p>
        </p:txBody>
      </p:sp>
      <p:sp>
        <p:nvSpPr>
          <p:cNvPr id="5" name="Text 3"/>
          <p:cNvSpPr/>
          <p:nvPr/>
        </p:nvSpPr>
        <p:spPr>
          <a:xfrm>
            <a:off x="640080" y="1691640"/>
            <a:ext cx="10972800" cy="365760"/>
          </a:xfrm>
          <a:prstGeom prst="rect">
            <a:avLst/>
          </a:prstGeom>
          <a:noFill/>
          <a:ln/>
        </p:spPr>
        <p:txBody>
          <a:bodyPr wrap="square" rtlCol="0" anchor="ctr"/>
          <a:lstStyle/>
          <a:p>
            <a:pPr indent="0" marL="0">
              <a:buNone/>
            </a:pPr>
            <a:r>
              <a:rPr lang="en-US" sz="1400" i="1" dirty="0">
                <a:solidFill>
                  <a:srgbClr val="555555"/>
                </a:solidFill>
                <a:latin typeface="Calibri" pitchFamily="34" charset="0"/>
                <a:ea typeface="Calibri" pitchFamily="34" charset="-122"/>
                <a:cs typeface="Calibri" pitchFamily="34" charset="-120"/>
              </a:rPr>
              <a:t>git-tagged validation-spec-frozen, committed before any validation script ran.</a:t>
            </a:r>
            <a:endParaRPr lang="en-US" sz="1400" dirty="0"/>
          </a:p>
        </p:txBody>
      </p:sp>
      <p:sp>
        <p:nvSpPr>
          <p:cNvPr id="6" name="Shape 4"/>
          <p:cNvSpPr/>
          <p:nvPr/>
        </p:nvSpPr>
        <p:spPr>
          <a:xfrm>
            <a:off x="640080" y="2377440"/>
            <a:ext cx="3657600" cy="3291840"/>
          </a:xfrm>
          <a:prstGeom prst="rect">
            <a:avLst/>
          </a:prstGeom>
          <a:solidFill>
            <a:srgbClr val="FFFFFF"/>
          </a:solidFill>
          <a:ln w="6350">
            <a:solidFill>
              <a:srgbClr val="D9D9D9"/>
            </a:solidFill>
            <a:prstDash val="solid"/>
          </a:ln>
        </p:spPr>
      </p:sp>
      <p:sp>
        <p:nvSpPr>
          <p:cNvPr id="7" name="Text 5"/>
          <p:cNvSpPr/>
          <p:nvPr/>
        </p:nvSpPr>
        <p:spPr>
          <a:xfrm>
            <a:off x="868680" y="2560320"/>
            <a:ext cx="3200400" cy="365760"/>
          </a:xfrm>
          <a:prstGeom prst="rect">
            <a:avLst/>
          </a:prstGeom>
          <a:noFill/>
          <a:ln/>
        </p:spPr>
        <p:txBody>
          <a:bodyPr wrap="square" rtlCol="0" anchor="ctr"/>
          <a:lstStyle/>
          <a:p>
            <a:pPr indent="0" marL="0">
              <a:buNone/>
            </a:pPr>
            <a:r>
              <a:rPr lang="en-US" sz="1100" b="1" spc="300" kern="0" dirty="0">
                <a:solidFill>
                  <a:srgbClr val="D4A017"/>
                </a:solidFill>
                <a:latin typeface="Calibri" pitchFamily="34" charset="0"/>
                <a:ea typeface="Calibri" pitchFamily="34" charset="-122"/>
                <a:cs typeface="Calibri" pitchFamily="34" charset="-120"/>
              </a:rPr>
              <a:t>Out-of-sample, always</a:t>
            </a:r>
            <a:endParaRPr lang="en-US" sz="1100" dirty="0"/>
          </a:p>
        </p:txBody>
      </p:sp>
      <p:sp>
        <p:nvSpPr>
          <p:cNvPr id="8" name="Shape 6"/>
          <p:cNvSpPr/>
          <p:nvPr/>
        </p:nvSpPr>
        <p:spPr>
          <a:xfrm>
            <a:off x="868680" y="2971800"/>
            <a:ext cx="365760" cy="36576"/>
          </a:xfrm>
          <a:prstGeom prst="rect">
            <a:avLst/>
          </a:prstGeom>
          <a:solidFill>
            <a:srgbClr val="D4A017"/>
          </a:solidFill>
          <a:ln w="12700">
            <a:solidFill>
              <a:srgbClr val="D4A017"/>
            </a:solidFill>
            <a:prstDash val="solid"/>
          </a:ln>
        </p:spPr>
      </p:sp>
      <p:sp>
        <p:nvSpPr>
          <p:cNvPr id="9" name="Text 7"/>
          <p:cNvSpPr/>
          <p:nvPr/>
        </p:nvSpPr>
        <p:spPr>
          <a:xfrm>
            <a:off x="868680" y="3154680"/>
            <a:ext cx="3200400" cy="2377440"/>
          </a:xfrm>
          <a:prstGeom prst="rect">
            <a:avLst/>
          </a:prstGeom>
          <a:noFill/>
          <a:ln/>
        </p:spPr>
        <p:txBody>
          <a:bodyPr wrap="square" rtlCol="0" anchor="ctr"/>
          <a:lstStyle/>
          <a:p>
            <a:pPr indent="0" marL="0">
              <a:lnSpc>
                <a:spcPct val="135000"/>
              </a:lnSpc>
              <a:buNone/>
            </a:pPr>
            <a:r>
              <a:rPr lang="en-US" sz="1300" dirty="0">
                <a:solidFill>
                  <a:srgbClr val="1A1A1A"/>
                </a:solidFill>
                <a:latin typeface="Georgia" pitchFamily="34" charset="0"/>
                <a:ea typeface="Georgia" pitchFamily="34" charset="-122"/>
                <a:cs typeface="Georgia" pitchFamily="34" charset="-120"/>
              </a:rPr>
              <a:t>Leave-one-cohort-out (LOCO): for each held-out fraud, the autoencoder is trained on clean filings from other cohorts only. The fraud and its peers are never in the training set.</a:t>
            </a:r>
            <a:endParaRPr lang="en-US" sz="1300" dirty="0"/>
          </a:p>
        </p:txBody>
      </p:sp>
      <p:sp>
        <p:nvSpPr>
          <p:cNvPr id="10" name="Shape 8"/>
          <p:cNvSpPr/>
          <p:nvPr/>
        </p:nvSpPr>
        <p:spPr>
          <a:xfrm>
            <a:off x="4297680" y="2377440"/>
            <a:ext cx="3657600" cy="3291840"/>
          </a:xfrm>
          <a:prstGeom prst="rect">
            <a:avLst/>
          </a:prstGeom>
          <a:solidFill>
            <a:srgbClr val="FFFFFF"/>
          </a:solidFill>
          <a:ln w="6350">
            <a:solidFill>
              <a:srgbClr val="D9D9D9"/>
            </a:solidFill>
            <a:prstDash val="solid"/>
          </a:ln>
        </p:spPr>
      </p:sp>
      <p:sp>
        <p:nvSpPr>
          <p:cNvPr id="11" name="Text 9"/>
          <p:cNvSpPr/>
          <p:nvPr/>
        </p:nvSpPr>
        <p:spPr>
          <a:xfrm>
            <a:off x="4526280" y="2560320"/>
            <a:ext cx="3200400" cy="365760"/>
          </a:xfrm>
          <a:prstGeom prst="rect">
            <a:avLst/>
          </a:prstGeom>
          <a:noFill/>
          <a:ln/>
        </p:spPr>
        <p:txBody>
          <a:bodyPr wrap="square" rtlCol="0" anchor="ctr"/>
          <a:lstStyle/>
          <a:p>
            <a:pPr indent="0" marL="0">
              <a:buNone/>
            </a:pPr>
            <a:r>
              <a:rPr lang="en-US" sz="1100" b="1" spc="300" kern="0" dirty="0">
                <a:solidFill>
                  <a:srgbClr val="D4A017"/>
                </a:solidFill>
                <a:latin typeface="Calibri" pitchFamily="34" charset="0"/>
                <a:ea typeface="Calibri" pitchFamily="34" charset="-122"/>
                <a:cs typeface="Calibri" pitchFamily="34" charset="-120"/>
              </a:rPr>
              <a:t>Time-controlled training</a:t>
            </a:r>
            <a:endParaRPr lang="en-US" sz="1100" dirty="0"/>
          </a:p>
        </p:txBody>
      </p:sp>
      <p:sp>
        <p:nvSpPr>
          <p:cNvPr id="12" name="Shape 10"/>
          <p:cNvSpPr/>
          <p:nvPr/>
        </p:nvSpPr>
        <p:spPr>
          <a:xfrm>
            <a:off x="4526280" y="2971800"/>
            <a:ext cx="365760" cy="36576"/>
          </a:xfrm>
          <a:prstGeom prst="rect">
            <a:avLst/>
          </a:prstGeom>
          <a:solidFill>
            <a:srgbClr val="D4A017"/>
          </a:solidFill>
          <a:ln w="12700">
            <a:solidFill>
              <a:srgbClr val="D4A017"/>
            </a:solidFill>
            <a:prstDash val="solid"/>
          </a:ln>
        </p:spPr>
      </p:sp>
      <p:sp>
        <p:nvSpPr>
          <p:cNvPr id="13" name="Text 11"/>
          <p:cNvSpPr/>
          <p:nvPr/>
        </p:nvSpPr>
        <p:spPr>
          <a:xfrm>
            <a:off x="4526280" y="3154680"/>
            <a:ext cx="3200400" cy="2377440"/>
          </a:xfrm>
          <a:prstGeom prst="rect">
            <a:avLst/>
          </a:prstGeom>
          <a:noFill/>
          <a:ln/>
        </p:spPr>
        <p:txBody>
          <a:bodyPr wrap="square" rtlCol="0" anchor="ctr"/>
          <a:lstStyle/>
          <a:p>
            <a:pPr indent="0" marL="0">
              <a:lnSpc>
                <a:spcPct val="135000"/>
              </a:lnSpc>
              <a:buNone/>
            </a:pPr>
            <a:r>
              <a:rPr lang="en-US" sz="1300" dirty="0">
                <a:solidFill>
                  <a:srgbClr val="1A1A1A"/>
                </a:solidFill>
                <a:latin typeface="Georgia" pitchFamily="34" charset="0"/>
                <a:ea typeface="Georgia" pitchFamily="34" charset="-122"/>
                <a:cs typeface="Georgia" pitchFamily="34" charset="-120"/>
              </a:rPr>
              <a:t>Within the LOCO training set, only filings dated on or before that fraud's filing date are eligible. The autoencoder's training corpus cannot include post-fraud disclosure language. (MiniLM pretraining is a separate caveat.)</a:t>
            </a:r>
            <a:endParaRPr lang="en-US" sz="1300" dirty="0"/>
          </a:p>
        </p:txBody>
      </p:sp>
      <p:sp>
        <p:nvSpPr>
          <p:cNvPr id="14" name="Shape 12"/>
          <p:cNvSpPr/>
          <p:nvPr/>
        </p:nvSpPr>
        <p:spPr>
          <a:xfrm>
            <a:off x="7955280" y="2377440"/>
            <a:ext cx="3657600" cy="3291840"/>
          </a:xfrm>
          <a:prstGeom prst="rect">
            <a:avLst/>
          </a:prstGeom>
          <a:solidFill>
            <a:srgbClr val="FFFFFF"/>
          </a:solidFill>
          <a:ln w="6350">
            <a:solidFill>
              <a:srgbClr val="D9D9D9"/>
            </a:solidFill>
            <a:prstDash val="solid"/>
          </a:ln>
        </p:spPr>
      </p:sp>
      <p:sp>
        <p:nvSpPr>
          <p:cNvPr id="15" name="Text 13"/>
          <p:cNvSpPr/>
          <p:nvPr/>
        </p:nvSpPr>
        <p:spPr>
          <a:xfrm>
            <a:off x="8183880" y="2560320"/>
            <a:ext cx="3200400" cy="365760"/>
          </a:xfrm>
          <a:prstGeom prst="rect">
            <a:avLst/>
          </a:prstGeom>
          <a:noFill/>
          <a:ln/>
        </p:spPr>
        <p:txBody>
          <a:bodyPr wrap="square" rtlCol="0" anchor="ctr"/>
          <a:lstStyle/>
          <a:p>
            <a:pPr indent="0" marL="0">
              <a:buNone/>
            </a:pPr>
            <a:r>
              <a:rPr lang="en-US" sz="1100" b="1" spc="300" kern="0" dirty="0">
                <a:solidFill>
                  <a:srgbClr val="D4A017"/>
                </a:solidFill>
                <a:latin typeface="Calibri" pitchFamily="34" charset="0"/>
                <a:ea typeface="Calibri" pitchFamily="34" charset="-122"/>
                <a:cs typeface="Calibri" pitchFamily="34" charset="-120"/>
              </a:rPr>
              <a:t>Single pass, no tuning</a:t>
            </a:r>
            <a:endParaRPr lang="en-US" sz="1100" dirty="0"/>
          </a:p>
        </p:txBody>
      </p:sp>
      <p:sp>
        <p:nvSpPr>
          <p:cNvPr id="16" name="Shape 14"/>
          <p:cNvSpPr/>
          <p:nvPr/>
        </p:nvSpPr>
        <p:spPr>
          <a:xfrm>
            <a:off x="8183880" y="2971800"/>
            <a:ext cx="365760" cy="36576"/>
          </a:xfrm>
          <a:prstGeom prst="rect">
            <a:avLst/>
          </a:prstGeom>
          <a:solidFill>
            <a:srgbClr val="D4A017"/>
          </a:solidFill>
          <a:ln w="12700">
            <a:solidFill>
              <a:srgbClr val="D4A017"/>
            </a:solidFill>
            <a:prstDash val="solid"/>
          </a:ln>
        </p:spPr>
      </p:sp>
      <p:sp>
        <p:nvSpPr>
          <p:cNvPr id="17" name="Text 15"/>
          <p:cNvSpPr/>
          <p:nvPr/>
        </p:nvSpPr>
        <p:spPr>
          <a:xfrm>
            <a:off x="8183880" y="3154680"/>
            <a:ext cx="3200400" cy="2377440"/>
          </a:xfrm>
          <a:prstGeom prst="rect">
            <a:avLst/>
          </a:prstGeom>
          <a:noFill/>
          <a:ln/>
        </p:spPr>
        <p:txBody>
          <a:bodyPr wrap="square" rtlCol="0" anchor="ctr"/>
          <a:lstStyle/>
          <a:p>
            <a:pPr indent="0" marL="0">
              <a:lnSpc>
                <a:spcPct val="135000"/>
              </a:lnSpc>
              <a:buNone/>
            </a:pPr>
            <a:r>
              <a:rPr lang="en-US" sz="1300" dirty="0">
                <a:solidFill>
                  <a:srgbClr val="1A1A1A"/>
                </a:solidFill>
                <a:latin typeface="Georgia" pitchFamily="34" charset="0"/>
                <a:ea typeface="Georgia" pitchFamily="34" charset="-122"/>
                <a:cs typeface="Georgia" pitchFamily="34" charset="-120"/>
              </a:rPr>
              <a:t>Architecture, hyperparameters, sentence cap, seeds: all committed and tagged before validation ran. scripts/06_validate.py runs once. No model tuning after validation.</a:t>
            </a:r>
            <a:endParaRPr lang="en-US" sz="1300" dirty="0"/>
          </a:p>
        </p:txBody>
      </p:sp>
      <p:sp>
        <p:nvSpPr>
          <p:cNvPr id="18" name="Text 16"/>
          <p:cNvSpPr/>
          <p:nvPr/>
        </p:nvSpPr>
        <p:spPr>
          <a:xfrm>
            <a:off x="640080" y="5852160"/>
            <a:ext cx="7315200" cy="457200"/>
          </a:xfrm>
          <a:prstGeom prst="rect">
            <a:avLst/>
          </a:prstGeom>
          <a:noFill/>
          <a:ln/>
        </p:spPr>
        <p:txBody>
          <a:bodyPr wrap="square" rtlCol="0" anchor="ctr"/>
          <a:lstStyle/>
          <a:p>
            <a:pPr indent="0" marL="0">
              <a:buNone/>
            </a:pPr>
            <a:r>
              <a:rPr lang="en-US" sz="1400" i="1" dirty="0">
                <a:solidFill>
                  <a:srgbClr val="1A2B4C"/>
                </a:solidFill>
                <a:latin typeface="Georgia" pitchFamily="34" charset="0"/>
                <a:ea typeface="Georgia" pitchFamily="34" charset="-122"/>
                <a:cs typeface="Georgia" pitchFamily="34" charset="-120"/>
              </a:rPr>
              <a:t>The contract makes the null result interpretable, not conclusive.</a:t>
            </a:r>
            <a:endParaRPr lang="en-US" sz="1400" dirty="0"/>
          </a:p>
        </p:txBody>
      </p:sp>
      <p:sp>
        <p:nvSpPr>
          <p:cNvPr id="19" name="Shape 17"/>
          <p:cNvSpPr/>
          <p:nvPr/>
        </p:nvSpPr>
        <p:spPr>
          <a:xfrm>
            <a:off x="8138160" y="5806440"/>
            <a:ext cx="3657600" cy="502920"/>
          </a:xfrm>
          <a:prstGeom prst="rect">
            <a:avLst/>
          </a:prstGeom>
          <a:solidFill>
            <a:srgbClr val="FFFFFF"/>
          </a:solidFill>
          <a:ln w="6350">
            <a:solidFill>
              <a:srgbClr val="5B7BB0"/>
            </a:solidFill>
            <a:prstDash val="solid"/>
          </a:ln>
        </p:spPr>
      </p:sp>
      <p:sp>
        <p:nvSpPr>
          <p:cNvPr id="20" name="Text 18"/>
          <p:cNvSpPr/>
          <p:nvPr/>
        </p:nvSpPr>
        <p:spPr>
          <a:xfrm>
            <a:off x="8275320" y="5852160"/>
            <a:ext cx="3383280" cy="457200"/>
          </a:xfrm>
          <a:prstGeom prst="rect">
            <a:avLst/>
          </a:prstGeom>
          <a:noFill/>
          <a:ln/>
        </p:spPr>
        <p:txBody>
          <a:bodyPr wrap="square" rtlCol="0" anchor="ctr"/>
          <a:lstStyle/>
          <a:p>
            <a:pPr indent="0" marL="0">
              <a:lnSpc>
                <a:spcPct val="130000"/>
              </a:lnSpc>
              <a:buNone/>
            </a:pPr>
            <a:r>
              <a:rPr lang="en-US" sz="900" dirty="0">
                <a:solidFill>
                  <a:srgbClr val="8A8A8A"/>
                </a:solidFill>
                <a:latin typeface="Consolas" pitchFamily="34" charset="0"/>
                <a:ea typeface="Consolas" pitchFamily="34" charset="-122"/>
                <a:cs typeface="Consolas" pitchFamily="34" charset="-120"/>
              </a:rPr>
              <a:t>git tag: </a:t>
            </a:r>
            <a:pPr indent="0" marL="0">
              <a:lnSpc>
                <a:spcPct val="130000"/>
              </a:lnSpc>
              <a:buNone/>
            </a:pPr>
            <a:r>
              <a:rPr lang="en-US" sz="900" b="1" dirty="0">
                <a:solidFill>
                  <a:srgbClr val="1A2B4C"/>
                </a:solidFill>
                <a:latin typeface="Consolas" pitchFamily="34" charset="0"/>
                <a:ea typeface="Consolas" pitchFamily="34" charset="-122"/>
                <a:cs typeface="Consolas" pitchFamily="34" charset="-120"/>
              </a:rPr>
              <a:t>validation-spec-frozen</a:t>
            </a:r>
            <a:pPr indent="0" marL="0">
              <a:lnSpc>
                <a:spcPct val="130000"/>
              </a:lnSpc>
              <a:buNone/>
            </a:pPr>
            <a:endParaRPr lang="en-US" sz="900" dirty="0"/>
          </a:p>
          <a:p>
            <a:pPr indent="0" marL="0">
              <a:lnSpc>
                <a:spcPct val="130000"/>
              </a:lnSpc>
              <a:buNone/>
            </a:pPr>
            <a:r>
              <a:rPr lang="en-US" sz="900" dirty="0">
                <a:solidFill>
                  <a:srgbClr val="8A8A8A"/>
                </a:solidFill>
                <a:latin typeface="Consolas" pitchFamily="34" charset="0"/>
                <a:ea typeface="Consolas" pitchFamily="34" charset="-122"/>
                <a:cs typeface="Consolas" pitchFamily="34" charset="-120"/>
              </a:rPr>
              <a:t>at 98d2585  ·  2026-05-01 13:42:42 EDT</a:t>
            </a:r>
            <a:endParaRPr lang="en-US" sz="900" dirty="0"/>
          </a:p>
        </p:txBody>
      </p:sp>
      <p:sp>
        <p:nvSpPr>
          <p:cNvPr id="21" name="Text 19"/>
          <p:cNvSpPr/>
          <p:nvPr/>
        </p:nvSpPr>
        <p:spPr>
          <a:xfrm>
            <a:off x="457200" y="6446520"/>
            <a:ext cx="7315200" cy="274320"/>
          </a:xfrm>
          <a:prstGeom prst="rect">
            <a:avLst/>
          </a:prstGeom>
          <a:noFill/>
          <a:ln/>
        </p:spPr>
        <p:txBody>
          <a:bodyPr wrap="square" rtlCol="0" anchor="ctr"/>
          <a:lstStyle/>
          <a:p>
            <a:pPr algn="l" indent="0" marL="0">
              <a:buNone/>
            </a:pPr>
            <a:r>
              <a:rPr lang="en-US" sz="1000" dirty="0">
                <a:solidFill>
                  <a:srgbClr val="8A8A8A"/>
                </a:solidFill>
                <a:latin typeface="Calibri" pitchFamily="34" charset="0"/>
                <a:ea typeface="Calibri" pitchFamily="34" charset="-122"/>
                <a:cs typeface="Calibri" pitchFamily="34" charset="-120"/>
              </a:rPr>
              <a:t>Canary  ·  Arsenii Chan  ·  CSC 44800</a:t>
            </a:r>
            <a:endParaRPr lang="en-US" sz="1000" dirty="0"/>
          </a:p>
        </p:txBody>
      </p:sp>
      <p:sp>
        <p:nvSpPr>
          <p:cNvPr id="22" name="Text 20"/>
          <p:cNvSpPr/>
          <p:nvPr/>
        </p:nvSpPr>
        <p:spPr>
          <a:xfrm>
            <a:off x="10817352" y="6446520"/>
            <a:ext cx="914400" cy="274320"/>
          </a:xfrm>
          <a:prstGeom prst="rect">
            <a:avLst/>
          </a:prstGeom>
          <a:noFill/>
          <a:ln/>
        </p:spPr>
        <p:txBody>
          <a:bodyPr wrap="square" rtlCol="0" anchor="ctr"/>
          <a:lstStyle/>
          <a:p>
            <a:pPr algn="r" indent="0" marL="0">
              <a:buNone/>
            </a:pPr>
            <a:r>
              <a:rPr lang="en-US" sz="1000" dirty="0">
                <a:solidFill>
                  <a:srgbClr val="8A8A8A"/>
                </a:solidFill>
                <a:latin typeface="Calibri" pitchFamily="34" charset="0"/>
                <a:ea typeface="Calibri" pitchFamily="34" charset="-122"/>
                <a:cs typeface="Calibri" pitchFamily="34" charset="-120"/>
              </a:rPr>
              <a:t>3 / 7</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972800" cy="274320"/>
          </a:xfrm>
          <a:prstGeom prst="rect">
            <a:avLst/>
          </a:prstGeom>
          <a:noFill/>
          <a:ln/>
        </p:spPr>
        <p:txBody>
          <a:bodyPr wrap="square" rtlCol="0" anchor="ctr"/>
          <a:lstStyle/>
          <a:p>
            <a:pPr indent="0" marL="0">
              <a:buNone/>
            </a:pPr>
            <a:r>
              <a:rPr lang="en-US" sz="1100" b="1" spc="400" kern="0" dirty="0">
                <a:solidFill>
                  <a:srgbClr val="5B7BB0"/>
                </a:solidFill>
                <a:latin typeface="Calibri" pitchFamily="34" charset="0"/>
                <a:ea typeface="Calibri" pitchFamily="34" charset="-122"/>
                <a:cs typeface="Calibri" pitchFamily="34" charset="-120"/>
              </a:rPr>
              <a:t>RESULTS · 5 OF 6 COHORTS · ENRON EXCLUDED BY THE RULE</a:t>
            </a:r>
            <a:endParaRPr lang="en-US" sz="1100" dirty="0"/>
          </a:p>
        </p:txBody>
      </p:sp>
      <p:sp>
        <p:nvSpPr>
          <p:cNvPr id="3" name="Shape 1"/>
          <p:cNvSpPr/>
          <p:nvPr/>
        </p:nvSpPr>
        <p:spPr>
          <a:xfrm>
            <a:off x="640080" y="868680"/>
            <a:ext cx="548640" cy="36576"/>
          </a:xfrm>
          <a:prstGeom prst="rect">
            <a:avLst/>
          </a:prstGeom>
          <a:solidFill>
            <a:srgbClr val="D4A017"/>
          </a:solidFill>
          <a:ln w="12700">
            <a:solidFill>
              <a:srgbClr val="D4A017"/>
            </a:solidFill>
            <a:prstDash val="solid"/>
          </a:ln>
        </p:spPr>
      </p:sp>
      <p:sp>
        <p:nvSpPr>
          <p:cNvPr id="4" name="Text 2"/>
          <p:cNvSpPr/>
          <p:nvPr/>
        </p:nvSpPr>
        <p:spPr>
          <a:xfrm>
            <a:off x="640080" y="1005840"/>
            <a:ext cx="10972800" cy="548640"/>
          </a:xfrm>
          <a:prstGeom prst="rect">
            <a:avLst/>
          </a:prstGeom>
          <a:noFill/>
          <a:ln/>
        </p:spPr>
        <p:txBody>
          <a:bodyPr wrap="square" rtlCol="0" anchor="ctr"/>
          <a:lstStyle/>
          <a:p>
            <a:pPr indent="0" marL="0">
              <a:buNone/>
            </a:pPr>
            <a:r>
              <a:rPr lang="en-US" sz="2400" b="1" dirty="0">
                <a:solidFill>
                  <a:srgbClr val="0E1A33"/>
                </a:solidFill>
                <a:latin typeface="Georgia" pitchFamily="34" charset="0"/>
                <a:ea typeface="Georgia" pitchFamily="34" charset="-122"/>
                <a:cs typeface="Georgia" pitchFamily="34" charset="-120"/>
              </a:rPr>
              <a:t>Only Lehman ranks above random expectation; the aggregate still loses to random.</a:t>
            </a:r>
            <a:endParaRPr lang="en-US" sz="24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40080" y="1783080"/>
          <a:ext cx="7315200" cy="3200400"/>
        </p:xfrm>
        <a:graphic>
          <a:graphicData uri="http://schemas.openxmlformats.org/drawingml/2006/table">
            <a:tbl>
              <a:tblPr/>
              <a:tblGrid>
                <a:gridCol w="2560320"/>
                <a:gridCol w="1097280"/>
                <a:gridCol w="3657600"/>
              </a:tblGrid>
              <a:tr h="365760">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Cohort</a:t>
                      </a:r>
                      <a:endParaRPr lang="en-US" sz="1300" dirty="0">
                        <a:latin typeface="Calibri" charset="0"/>
                        <a:ea typeface="Calibri" charset="0"/>
                        <a:cs typeface="Calibri" charset="0"/>
                      </a:endParaRPr>
                    </a:p>
                  </a:txBody>
                  <a:tcPr marL="91440" marR="91440" marT="45720" marB="4572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0E1A33"/>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Rank</a:t>
                      </a:r>
                      <a:endParaRPr lang="en-US" sz="1300" dirty="0">
                        <a:latin typeface="Calibri" charset="0"/>
                        <a:ea typeface="Calibri" charset="0"/>
                        <a:cs typeface="Calibri" charset="0"/>
                      </a:endParaRPr>
                    </a:p>
                  </a:txBody>
                  <a:tcPr marL="91440" marR="91440" marT="45720" marB="4572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0E1A33"/>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Note</a:t>
                      </a:r>
                      <a:endParaRPr lang="en-US" sz="1300" dirty="0">
                        <a:latin typeface="Calibri" charset="0"/>
                        <a:ea typeface="Calibri" charset="0"/>
                        <a:cs typeface="Calibri" charset="0"/>
                      </a:endParaRPr>
                    </a:p>
                  </a:txBody>
                  <a:tcPr marL="91440" marR="91440" marT="45720" marB="4572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0E1A33"/>
                    </a:solidFill>
                  </a:tcPr>
                </a:tc>
              </a:tr>
              <a:tr h="411480">
                <a:tc>
                  <a:txBody>
                    <a:bodyPr/>
                    <a:lstStyle/>
                    <a:p>
                      <a:pPr indent="0" marL="0">
                        <a:buNone/>
                      </a:pPr>
                      <a:r>
                        <a:rPr lang="en-US" sz="1300" b="1" dirty="0">
                          <a:solidFill>
                            <a:srgbClr val="0E1A33"/>
                          </a:solidFill>
                          <a:latin typeface="Calibri" pitchFamily="34" charset="0"/>
                          <a:ea typeface="Calibri" pitchFamily="34" charset="-122"/>
                          <a:cs typeface="Calibri" pitchFamily="34" charset="-120"/>
                        </a:rPr>
                        <a:t>Lehman (LEH, FY 2007)  ⚠</a:t>
                      </a:r>
                      <a:endParaRPr lang="en-US" sz="1300" dirty="0">
                        <a:latin typeface="Calibri" charset="0"/>
                        <a:ea typeface="Calibri" charset="0"/>
                        <a:cs typeface="Calibri" charset="0"/>
                      </a:endParaRPr>
                    </a:p>
                  </a:txBody>
                  <a:tcPr marL="91440" marR="91440" marT="45720" marB="4572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1300" b="1" dirty="0">
                          <a:solidFill>
                            <a:srgbClr val="0E1A33"/>
                          </a:solidFill>
                          <a:latin typeface="Calibri" pitchFamily="34" charset="0"/>
                          <a:ea typeface="Calibri" pitchFamily="34" charset="-122"/>
                          <a:cs typeface="Calibri" pitchFamily="34" charset="-120"/>
                        </a:rPr>
                        <a:t>3 / 13</a:t>
                      </a:r>
                      <a:endParaRPr lang="en-US" sz="1300" dirty="0">
                        <a:latin typeface="Calibri" charset="0"/>
                        <a:ea typeface="Calibri" charset="0"/>
                        <a:cs typeface="Calibri" charset="0"/>
                      </a:endParaRPr>
                    </a:p>
                  </a:txBody>
                  <a:tcPr marL="91440" marR="91440" marT="45720" marB="4572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300" i="1" dirty="0">
                          <a:solidFill>
                            <a:srgbClr val="555555"/>
                          </a:solidFill>
                          <a:latin typeface="Calibri" pitchFamily="34" charset="0"/>
                          <a:ea typeface="Calibri" pitchFamily="34" charset="-122"/>
                          <a:cs typeface="Calibri" pitchFamily="34" charset="-120"/>
                        </a:rPr>
                        <a:t>n = 1, baseline beats autoencoder</a:t>
                      </a:r>
                      <a:endParaRPr lang="en-US" sz="1300" dirty="0">
                        <a:latin typeface="Calibri" charset="0"/>
                        <a:ea typeface="Calibri" charset="0"/>
                        <a:cs typeface="Calibri" charset="0"/>
                      </a:endParaRPr>
                    </a:p>
                  </a:txBody>
                  <a:tcPr marL="91440" marR="91440" marT="45720" marB="4572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411480">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HealthSouth (HRC)</a:t>
                      </a:r>
                      <a:endParaRPr lang="en-US" sz="1300" dirty="0">
                        <a:latin typeface="Calibri" charset="0"/>
                        <a:ea typeface="Calibri" charset="0"/>
                        <a:cs typeface="Calibri" charset="0"/>
                      </a:endParaRPr>
                    </a:p>
                  </a:txBody>
                  <a:tcPr marL="91440" marR="91440" marT="45720" marB="4572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1300" dirty="0">
                          <a:solidFill>
                            <a:srgbClr val="1A1A1A"/>
                          </a:solidFill>
                          <a:latin typeface="Calibri" pitchFamily="34" charset="0"/>
                          <a:ea typeface="Calibri" pitchFamily="34" charset="-122"/>
                          <a:cs typeface="Calibri" pitchFamily="34" charset="-120"/>
                        </a:rPr>
                        <a:t>7 / 12</a:t>
                      </a:r>
                      <a:endParaRPr lang="en-US" sz="1300" dirty="0">
                        <a:latin typeface="Calibri" charset="0"/>
                        <a:ea typeface="Calibri" charset="0"/>
                        <a:cs typeface="Calibri" charset="0"/>
                      </a:endParaRPr>
                    </a:p>
                  </a:txBody>
                  <a:tcPr marL="91440" marR="91440" marT="45720" marB="4572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300" dirty="0">
                          <a:solidFill>
                            <a:srgbClr val="555555"/>
                          </a:solidFill>
                          <a:latin typeface="Calibri" pitchFamily="34" charset="0"/>
                          <a:ea typeface="Calibri" pitchFamily="34" charset="-122"/>
                          <a:cs typeface="Calibri" pitchFamily="34" charset="-120"/>
                        </a:rPr>
                        <a:t>at or below random</a:t>
                      </a:r>
                      <a:endParaRPr lang="en-US" sz="1300" dirty="0">
                        <a:latin typeface="Calibri" charset="0"/>
                        <a:ea typeface="Calibri" charset="0"/>
                        <a:cs typeface="Calibri" charset="0"/>
                      </a:endParaRPr>
                    </a:p>
                  </a:txBody>
                  <a:tcPr marL="91440" marR="91440" marT="45720" marB="4572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411480">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Valeant (VRX)</a:t>
                      </a:r>
                      <a:endParaRPr lang="en-US" sz="1300" dirty="0">
                        <a:latin typeface="Calibri" charset="0"/>
                        <a:ea typeface="Calibri" charset="0"/>
                        <a:cs typeface="Calibri" charset="0"/>
                      </a:endParaRPr>
                    </a:p>
                  </a:txBody>
                  <a:tcPr marL="91440" marR="91440" marT="45720" marB="4572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1300" dirty="0">
                          <a:solidFill>
                            <a:srgbClr val="1A1A1A"/>
                          </a:solidFill>
                          <a:latin typeface="Calibri" pitchFamily="34" charset="0"/>
                          <a:ea typeface="Calibri" pitchFamily="34" charset="-122"/>
                          <a:cs typeface="Calibri" pitchFamily="34" charset="-120"/>
                        </a:rPr>
                        <a:t>8 / 13</a:t>
                      </a:r>
                      <a:endParaRPr lang="en-US" sz="1300" dirty="0">
                        <a:latin typeface="Calibri" charset="0"/>
                        <a:ea typeface="Calibri" charset="0"/>
                        <a:cs typeface="Calibri" charset="0"/>
                      </a:endParaRPr>
                    </a:p>
                  </a:txBody>
                  <a:tcPr marL="91440" marR="91440" marT="45720" marB="4572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300" dirty="0">
                          <a:solidFill>
                            <a:srgbClr val="555555"/>
                          </a:solidFill>
                          <a:latin typeface="Calibri" pitchFamily="34" charset="0"/>
                          <a:ea typeface="Calibri" pitchFamily="34" charset="-122"/>
                          <a:cs typeface="Calibri" pitchFamily="34" charset="-120"/>
                        </a:rPr>
                        <a:t>at or below random</a:t>
                      </a:r>
                      <a:endParaRPr lang="en-US" sz="1300" dirty="0">
                        <a:latin typeface="Calibri" charset="0"/>
                        <a:ea typeface="Calibri" charset="0"/>
                        <a:cs typeface="Calibri" charset="0"/>
                      </a:endParaRPr>
                    </a:p>
                  </a:txBody>
                  <a:tcPr marL="91440" marR="91440" marT="45720" marB="4572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411480">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Tyco (TYC)</a:t>
                      </a:r>
                      <a:endParaRPr lang="en-US" sz="1300" dirty="0">
                        <a:latin typeface="Calibri" charset="0"/>
                        <a:ea typeface="Calibri" charset="0"/>
                        <a:cs typeface="Calibri" charset="0"/>
                      </a:endParaRPr>
                    </a:p>
                  </a:txBody>
                  <a:tcPr marL="91440" marR="91440" marT="45720" marB="4572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1300" dirty="0">
                          <a:solidFill>
                            <a:srgbClr val="1A1A1A"/>
                          </a:solidFill>
                          <a:latin typeface="Calibri" pitchFamily="34" charset="0"/>
                          <a:ea typeface="Calibri" pitchFamily="34" charset="-122"/>
                          <a:cs typeface="Calibri" pitchFamily="34" charset="-120"/>
                        </a:rPr>
                        <a:t>9 / 13</a:t>
                      </a:r>
                      <a:endParaRPr lang="en-US" sz="1300" dirty="0">
                        <a:latin typeface="Calibri" charset="0"/>
                        <a:ea typeface="Calibri" charset="0"/>
                        <a:cs typeface="Calibri" charset="0"/>
                      </a:endParaRPr>
                    </a:p>
                  </a:txBody>
                  <a:tcPr marL="91440" marR="91440" marT="45720" marB="4572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300" dirty="0">
                          <a:solidFill>
                            <a:srgbClr val="555555"/>
                          </a:solidFill>
                          <a:latin typeface="Calibri" pitchFamily="34" charset="0"/>
                          <a:ea typeface="Calibri" pitchFamily="34" charset="-122"/>
                          <a:cs typeface="Calibri" pitchFamily="34" charset="-120"/>
                        </a:rPr>
                        <a:t>at or below random</a:t>
                      </a:r>
                      <a:endParaRPr lang="en-US" sz="1300" dirty="0">
                        <a:latin typeface="Calibri" charset="0"/>
                        <a:ea typeface="Calibri" charset="0"/>
                        <a:cs typeface="Calibri" charset="0"/>
                      </a:endParaRPr>
                    </a:p>
                  </a:txBody>
                  <a:tcPr marL="91440" marR="91440" marT="45720" marB="4572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411480">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WorldCom (WCOM)</a:t>
                      </a:r>
                      <a:endParaRPr lang="en-US" sz="1300" dirty="0">
                        <a:latin typeface="Calibri" charset="0"/>
                        <a:ea typeface="Calibri" charset="0"/>
                        <a:cs typeface="Calibri" charset="0"/>
                      </a:endParaRPr>
                    </a:p>
                  </a:txBody>
                  <a:tcPr marL="91440" marR="91440" marT="45720" marB="4572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1300" dirty="0">
                          <a:solidFill>
                            <a:srgbClr val="1A1A1A"/>
                          </a:solidFill>
                          <a:latin typeface="Calibri" pitchFamily="34" charset="0"/>
                          <a:ea typeface="Calibri" pitchFamily="34" charset="-122"/>
                          <a:cs typeface="Calibri" pitchFamily="34" charset="-120"/>
                        </a:rPr>
                        <a:t>12 / 13</a:t>
                      </a:r>
                      <a:endParaRPr lang="en-US" sz="1300" dirty="0">
                        <a:latin typeface="Calibri" charset="0"/>
                        <a:ea typeface="Calibri" charset="0"/>
                        <a:cs typeface="Calibri" charset="0"/>
                      </a:endParaRPr>
                    </a:p>
                  </a:txBody>
                  <a:tcPr marL="91440" marR="91440" marT="45720" marB="4572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300" dirty="0">
                          <a:solidFill>
                            <a:srgbClr val="555555"/>
                          </a:solidFill>
                          <a:latin typeface="Calibri" pitchFamily="34" charset="0"/>
                          <a:ea typeface="Calibri" pitchFamily="34" charset="-122"/>
                          <a:cs typeface="Calibri" pitchFamily="34" charset="-120"/>
                        </a:rPr>
                        <a:t>at or below random</a:t>
                      </a:r>
                      <a:endParaRPr lang="en-US" sz="1300" dirty="0">
                        <a:latin typeface="Calibri" charset="0"/>
                        <a:ea typeface="Calibri" charset="0"/>
                        <a:cs typeface="Calibri" charset="0"/>
                      </a:endParaRPr>
                    </a:p>
                  </a:txBody>
                  <a:tcPr marL="91440" marR="91440" marT="45720" marB="4572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411480">
                <a:tc>
                  <a:txBody>
                    <a:bodyPr/>
                    <a:lstStyle/>
                    <a:p>
                      <a:pPr indent="0" marL="0">
                        <a:buNone/>
                      </a:pPr>
                      <a:r>
                        <a:rPr lang="en-US" sz="1300" i="1" dirty="0">
                          <a:solidFill>
                            <a:srgbClr val="555555"/>
                          </a:solidFill>
                          <a:latin typeface="Calibri" pitchFamily="34" charset="0"/>
                          <a:ea typeface="Calibri" pitchFamily="34" charset="-122"/>
                          <a:cs typeface="Calibri" pitchFamily="34" charset="-120"/>
                        </a:rPr>
                        <a:t>Enron (ENE, FY 2000)</a:t>
                      </a:r>
                      <a:endParaRPr lang="en-US" sz="1300" dirty="0">
                        <a:latin typeface="Calibri" charset="0"/>
                        <a:ea typeface="Calibri" charset="0"/>
                        <a:cs typeface="Calibri" charset="0"/>
                      </a:endParaRPr>
                    </a:p>
                  </a:txBody>
                  <a:tcPr marL="91440" marR="91440" marT="45720" marB="4572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1300" i="1" dirty="0">
                          <a:solidFill>
                            <a:srgbClr val="555555"/>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91440" marR="91440" marT="45720" marB="4572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300" i="1" dirty="0">
                          <a:solidFill>
                            <a:srgbClr val="555555"/>
                          </a:solidFill>
                          <a:latin typeface="Calibri" pitchFamily="34" charset="0"/>
                          <a:ea typeface="Calibri" pitchFamily="34" charset="-122"/>
                          <a:cs typeface="Calibri" pitchFamily="34" charset="-120"/>
                        </a:rPr>
                        <a:t>not evaluable: filed earliest, no eligible training data</a:t>
                      </a:r>
                      <a:endParaRPr lang="en-US" sz="1300" dirty="0">
                        <a:latin typeface="Calibri" charset="0"/>
                        <a:ea typeface="Calibri" charset="0"/>
                        <a:cs typeface="Calibri" charset="0"/>
                      </a:endParaRPr>
                    </a:p>
                  </a:txBody>
                  <a:tcPr marL="91440" marR="91440" marT="45720" marB="4572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bl>
          </a:graphicData>
        </a:graphic>
      </p:graphicFrame>
      <p:sp>
        <p:nvSpPr>
          <p:cNvPr id="6" name="Shape 3"/>
          <p:cNvSpPr/>
          <p:nvPr/>
        </p:nvSpPr>
        <p:spPr>
          <a:xfrm>
            <a:off x="8183880" y="1783080"/>
            <a:ext cx="3520440" cy="3200400"/>
          </a:xfrm>
          <a:prstGeom prst="rect">
            <a:avLst/>
          </a:prstGeom>
          <a:solidFill>
            <a:srgbClr val="F8F8F4"/>
          </a:solidFill>
          <a:ln w="6350">
            <a:solidFill>
              <a:srgbClr val="D9D9D9"/>
            </a:solidFill>
            <a:prstDash val="solid"/>
          </a:ln>
        </p:spPr>
      </p:sp>
      <p:sp>
        <p:nvSpPr>
          <p:cNvPr id="7" name="Text 4"/>
          <p:cNvSpPr/>
          <p:nvPr/>
        </p:nvSpPr>
        <p:spPr>
          <a:xfrm>
            <a:off x="8366760" y="1920240"/>
            <a:ext cx="3200400" cy="274320"/>
          </a:xfrm>
          <a:prstGeom prst="rect">
            <a:avLst/>
          </a:prstGeom>
          <a:noFill/>
          <a:ln/>
        </p:spPr>
        <p:txBody>
          <a:bodyPr wrap="square" rtlCol="0" anchor="ctr"/>
          <a:lstStyle/>
          <a:p>
            <a:pPr indent="0" marL="0">
              <a:buNone/>
            </a:pPr>
            <a:r>
              <a:rPr lang="en-US" sz="1100" b="1" spc="300" kern="0" dirty="0">
                <a:solidFill>
                  <a:srgbClr val="5B7BB0"/>
                </a:solidFill>
                <a:latin typeface="Calibri" pitchFamily="34" charset="0"/>
                <a:ea typeface="Calibri" pitchFamily="34" charset="-122"/>
                <a:cs typeface="Calibri" pitchFamily="34" charset="-120"/>
              </a:rPr>
              <a:t>Aggregate hit-rates</a:t>
            </a:r>
            <a:endParaRPr lang="en-US" sz="1100" dirty="0"/>
          </a:p>
        </p:txBody>
      </p:sp>
      <p:sp>
        <p:nvSpPr>
          <p:cNvPr id="8" name="Shape 5"/>
          <p:cNvSpPr/>
          <p:nvPr/>
        </p:nvSpPr>
        <p:spPr>
          <a:xfrm>
            <a:off x="8366760" y="2240280"/>
            <a:ext cx="365760" cy="36576"/>
          </a:xfrm>
          <a:prstGeom prst="rect">
            <a:avLst/>
          </a:prstGeom>
          <a:solidFill>
            <a:srgbClr val="5B7BB0"/>
          </a:solidFill>
          <a:ln w="12700">
            <a:solidFill>
              <a:srgbClr val="5B7BB0"/>
            </a:solidFill>
            <a:prstDash val="solid"/>
          </a:ln>
        </p:spPr>
      </p:sp>
      <p:sp>
        <p:nvSpPr>
          <p:cNvPr id="9" name="Text 6"/>
          <p:cNvSpPr/>
          <p:nvPr/>
        </p:nvSpPr>
        <p:spPr>
          <a:xfrm>
            <a:off x="8366760" y="2423160"/>
            <a:ext cx="3200400" cy="2377440"/>
          </a:xfrm>
          <a:prstGeom prst="rect">
            <a:avLst/>
          </a:prstGeom>
          <a:noFill/>
          <a:ln/>
        </p:spPr>
        <p:txBody>
          <a:bodyPr wrap="square" rtlCol="0" anchor="ctr"/>
          <a:lstStyle/>
          <a:p>
            <a:pPr indent="0" marL="0">
              <a:lnSpc>
                <a:spcPct val="150000"/>
              </a:lnSpc>
              <a:buNone/>
            </a:pPr>
            <a:r>
              <a:rPr lang="en-US" sz="1300" dirty="0">
                <a:solidFill>
                  <a:srgbClr val="555555"/>
                </a:solidFill>
                <a:latin typeface="Calibri" pitchFamily="34" charset="0"/>
                <a:ea typeface="Calibri" pitchFamily="34" charset="-122"/>
                <a:cs typeface="Calibri" pitchFamily="34" charset="-120"/>
              </a:rPr>
              <a:t>hit@1: </a:t>
            </a:r>
            <a:pPr indent="0" marL="0">
              <a:lnSpc>
                <a:spcPct val="150000"/>
              </a:lnSpc>
              <a:buNone/>
            </a:pPr>
            <a:r>
              <a:rPr lang="en-US" sz="1800" b="1" dirty="0">
                <a:solidFill>
                  <a:srgbClr val="1A1A1A"/>
                </a:solidFill>
                <a:latin typeface="Calibri" pitchFamily="34" charset="0"/>
                <a:ea typeface="Calibri" pitchFamily="34" charset="-122"/>
                <a:cs typeface="Calibri" pitchFamily="34" charset="-120"/>
              </a:rPr>
              <a:t>0.00</a:t>
            </a:r>
            <a:pPr indent="0" marL="0">
              <a:lnSpc>
                <a:spcPct val="150000"/>
              </a:lnSpc>
              <a:buNone/>
            </a:pPr>
            <a:r>
              <a:rPr lang="en-US" sz="1100" dirty="0">
                <a:solidFill>
                  <a:srgbClr val="8A8A8A"/>
                </a:solidFill>
                <a:latin typeface="Calibri" pitchFamily="34" charset="0"/>
                <a:ea typeface="Calibri" pitchFamily="34" charset="-122"/>
                <a:cs typeface="Calibri" pitchFamily="34" charset="-120"/>
              </a:rPr>
              <a:t>  vs random 0.08
</a:t>
            </a:r>
            <a:pPr indent="0" marL="0">
              <a:lnSpc>
                <a:spcPct val="150000"/>
              </a:lnSpc>
              <a:buNone/>
            </a:pPr>
            <a:r>
              <a:rPr lang="en-US" sz="1300" dirty="0">
                <a:solidFill>
                  <a:srgbClr val="555555"/>
                </a:solidFill>
                <a:latin typeface="Calibri" pitchFamily="34" charset="0"/>
                <a:ea typeface="Calibri" pitchFamily="34" charset="-122"/>
                <a:cs typeface="Calibri" pitchFamily="34" charset="-120"/>
              </a:rPr>
              <a:t>hit@3: </a:t>
            </a:r>
            <a:pPr indent="0" marL="0">
              <a:lnSpc>
                <a:spcPct val="150000"/>
              </a:lnSpc>
              <a:buNone/>
            </a:pPr>
            <a:r>
              <a:rPr lang="en-US" sz="1800" b="1" dirty="0">
                <a:solidFill>
                  <a:srgbClr val="1A1A1A"/>
                </a:solidFill>
                <a:latin typeface="Calibri" pitchFamily="34" charset="0"/>
                <a:ea typeface="Calibri" pitchFamily="34" charset="-122"/>
                <a:cs typeface="Calibri" pitchFamily="34" charset="-120"/>
              </a:rPr>
              <a:t>0.20</a:t>
            </a:r>
            <a:pPr indent="0" marL="0">
              <a:lnSpc>
                <a:spcPct val="150000"/>
              </a:lnSpc>
              <a:buNone/>
            </a:pPr>
            <a:r>
              <a:rPr lang="en-US" sz="1100" dirty="0">
                <a:solidFill>
                  <a:srgbClr val="8A8A8A"/>
                </a:solidFill>
                <a:latin typeface="Calibri" pitchFamily="34" charset="0"/>
                <a:ea typeface="Calibri" pitchFamily="34" charset="-122"/>
                <a:cs typeface="Calibri" pitchFamily="34" charset="-120"/>
              </a:rPr>
              <a:t>  vs random 0.23
</a:t>
            </a:r>
            <a:pPr indent="0" marL="0">
              <a:lnSpc>
                <a:spcPct val="150000"/>
              </a:lnSpc>
              <a:buNone/>
            </a:pPr>
            <a:r>
              <a:rPr lang="en-US" sz="1300" dirty="0">
                <a:solidFill>
                  <a:srgbClr val="555555"/>
                </a:solidFill>
                <a:latin typeface="Calibri" pitchFamily="34" charset="0"/>
                <a:ea typeface="Calibri" pitchFamily="34" charset="-122"/>
                <a:cs typeface="Calibri" pitchFamily="34" charset="-120"/>
              </a:rPr>
              <a:t>hit@5: </a:t>
            </a:r>
            <a:pPr indent="0" marL="0">
              <a:lnSpc>
                <a:spcPct val="150000"/>
              </a:lnSpc>
              <a:buNone/>
            </a:pPr>
            <a:r>
              <a:rPr lang="en-US" sz="1800" b="1" dirty="0">
                <a:solidFill>
                  <a:srgbClr val="1A1A1A"/>
                </a:solidFill>
                <a:latin typeface="Calibri" pitchFamily="34" charset="0"/>
                <a:ea typeface="Calibri" pitchFamily="34" charset="-122"/>
                <a:cs typeface="Calibri" pitchFamily="34" charset="-120"/>
              </a:rPr>
              <a:t>0.20</a:t>
            </a:r>
            <a:pPr indent="0" marL="0">
              <a:lnSpc>
                <a:spcPct val="150000"/>
              </a:lnSpc>
              <a:buNone/>
            </a:pPr>
            <a:r>
              <a:rPr lang="en-US" sz="1100" dirty="0">
                <a:solidFill>
                  <a:srgbClr val="8A8A8A"/>
                </a:solidFill>
                <a:latin typeface="Calibri" pitchFamily="34" charset="0"/>
                <a:ea typeface="Calibri" pitchFamily="34" charset="-122"/>
                <a:cs typeface="Calibri" pitchFamily="34" charset="-120"/>
              </a:rPr>
              <a:t>  vs random 0.39</a:t>
            </a:r>
            <a:endParaRPr lang="en-US" sz="1300" dirty="0"/>
          </a:p>
        </p:txBody>
      </p:sp>
      <p:sp>
        <p:nvSpPr>
          <p:cNvPr id="10" name="Text 7"/>
          <p:cNvSpPr/>
          <p:nvPr/>
        </p:nvSpPr>
        <p:spPr>
          <a:xfrm>
            <a:off x="640080" y="5212080"/>
            <a:ext cx="10972800" cy="731520"/>
          </a:xfrm>
          <a:prstGeom prst="rect">
            <a:avLst/>
          </a:prstGeom>
          <a:noFill/>
          <a:ln/>
        </p:spPr>
        <p:txBody>
          <a:bodyPr wrap="square" rtlCol="0" anchor="ctr"/>
          <a:lstStyle/>
          <a:p>
            <a:pPr indent="0" marL="0">
              <a:lnSpc>
                <a:spcPct val="130000"/>
              </a:lnSpc>
              <a:buNone/>
            </a:pPr>
            <a:r>
              <a:rPr lang="en-US" sz="1300" i="1" dirty="0">
                <a:solidFill>
                  <a:srgbClr val="555555"/>
                </a:solidFill>
                <a:latin typeface="Georgia" pitchFamily="34" charset="0"/>
                <a:ea typeface="Georgia" pitchFamily="34" charset="-122"/>
                <a:cs typeface="Georgia" pitchFamily="34" charset="-120"/>
              </a:rPr>
              <a:t>⚠ Lehman is the only rank better than random expectation, and a 1990s baseline ranks it higher (slide 5). The aggregate is entirely Lehman.</a:t>
            </a:r>
            <a:endParaRPr lang="en-US" sz="1300" dirty="0"/>
          </a:p>
        </p:txBody>
      </p:sp>
      <p:sp>
        <p:nvSpPr>
          <p:cNvPr id="11" name="Text 8"/>
          <p:cNvSpPr/>
          <p:nvPr/>
        </p:nvSpPr>
        <p:spPr>
          <a:xfrm>
            <a:off x="457200" y="6446520"/>
            <a:ext cx="7315200" cy="274320"/>
          </a:xfrm>
          <a:prstGeom prst="rect">
            <a:avLst/>
          </a:prstGeom>
          <a:noFill/>
          <a:ln/>
        </p:spPr>
        <p:txBody>
          <a:bodyPr wrap="square" rtlCol="0" anchor="ctr"/>
          <a:lstStyle/>
          <a:p>
            <a:pPr algn="l" indent="0" marL="0">
              <a:buNone/>
            </a:pPr>
            <a:r>
              <a:rPr lang="en-US" sz="1000" dirty="0">
                <a:solidFill>
                  <a:srgbClr val="8A8A8A"/>
                </a:solidFill>
                <a:latin typeface="Calibri" pitchFamily="34" charset="0"/>
                <a:ea typeface="Calibri" pitchFamily="34" charset="-122"/>
                <a:cs typeface="Calibri" pitchFamily="34" charset="-120"/>
              </a:rPr>
              <a:t>Canary  ·  Arsenii Chan  ·  CSC 44800</a:t>
            </a:r>
            <a:endParaRPr lang="en-US" sz="1000" dirty="0"/>
          </a:p>
        </p:txBody>
      </p:sp>
      <p:sp>
        <p:nvSpPr>
          <p:cNvPr id="12" name="Text 9"/>
          <p:cNvSpPr/>
          <p:nvPr/>
        </p:nvSpPr>
        <p:spPr>
          <a:xfrm>
            <a:off x="10817352" y="6446520"/>
            <a:ext cx="914400" cy="274320"/>
          </a:xfrm>
          <a:prstGeom prst="rect">
            <a:avLst/>
          </a:prstGeom>
          <a:noFill/>
          <a:ln/>
        </p:spPr>
        <p:txBody>
          <a:bodyPr wrap="square" rtlCol="0" anchor="ctr"/>
          <a:lstStyle/>
          <a:p>
            <a:pPr algn="r" indent="0" marL="0">
              <a:buNone/>
            </a:pPr>
            <a:r>
              <a:rPr lang="en-US" sz="1000" dirty="0">
                <a:solidFill>
                  <a:srgbClr val="8A8A8A"/>
                </a:solidFill>
                <a:latin typeface="Calibri" pitchFamily="34" charset="0"/>
                <a:ea typeface="Calibri" pitchFamily="34" charset="-122"/>
                <a:cs typeface="Calibri" pitchFamily="34" charset="-120"/>
              </a:rPr>
              <a:t>4 / 7</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972800" cy="274320"/>
          </a:xfrm>
          <a:prstGeom prst="rect">
            <a:avLst/>
          </a:prstGeom>
          <a:noFill/>
          <a:ln/>
        </p:spPr>
        <p:txBody>
          <a:bodyPr wrap="square" rtlCol="0" anchor="ctr"/>
          <a:lstStyle/>
          <a:p>
            <a:pPr indent="0" marL="0">
              <a:buNone/>
            </a:pPr>
            <a:r>
              <a:rPr lang="en-US" sz="1100" b="1" spc="400" kern="0" dirty="0">
                <a:solidFill>
                  <a:srgbClr val="5B7BB0"/>
                </a:solidFill>
                <a:latin typeface="Calibri" pitchFamily="34" charset="0"/>
                <a:ea typeface="Calibri" pitchFamily="34" charset="-122"/>
                <a:cs typeface="Calibri" pitchFamily="34" charset="-120"/>
              </a:rPr>
              <a:t>THE BASELINE CHECK · TF-IDF + SVD32 (POST-HOC)</a:t>
            </a:r>
            <a:endParaRPr lang="en-US" sz="1100" dirty="0"/>
          </a:p>
        </p:txBody>
      </p:sp>
      <p:sp>
        <p:nvSpPr>
          <p:cNvPr id="3" name="Shape 1"/>
          <p:cNvSpPr/>
          <p:nvPr/>
        </p:nvSpPr>
        <p:spPr>
          <a:xfrm>
            <a:off x="640080" y="868680"/>
            <a:ext cx="548640" cy="36576"/>
          </a:xfrm>
          <a:prstGeom prst="rect">
            <a:avLst/>
          </a:prstGeom>
          <a:solidFill>
            <a:srgbClr val="D4A017"/>
          </a:solidFill>
          <a:ln w="12700">
            <a:solidFill>
              <a:srgbClr val="D4A017"/>
            </a:solidFill>
            <a:prstDash val="solid"/>
          </a:ln>
        </p:spPr>
      </p:sp>
      <p:sp>
        <p:nvSpPr>
          <p:cNvPr id="4" name="Text 2"/>
          <p:cNvSpPr/>
          <p:nvPr/>
        </p:nvSpPr>
        <p:spPr>
          <a:xfrm>
            <a:off x="640080" y="1005840"/>
            <a:ext cx="10972800" cy="457200"/>
          </a:xfrm>
          <a:prstGeom prst="rect">
            <a:avLst/>
          </a:prstGeom>
          <a:noFill/>
          <a:ln/>
        </p:spPr>
        <p:txBody>
          <a:bodyPr wrap="square" rtlCol="0" anchor="ctr"/>
          <a:lstStyle/>
          <a:p>
            <a:pPr indent="0" marL="0">
              <a:buNone/>
            </a:pPr>
            <a:r>
              <a:rPr lang="en-US" sz="2400" b="1" dirty="0">
                <a:solidFill>
                  <a:srgbClr val="0E1A33"/>
                </a:solidFill>
                <a:latin typeface="Georgia" pitchFamily="34" charset="0"/>
                <a:ea typeface="Georgia" pitchFamily="34" charset="-122"/>
                <a:cs typeface="Georgia" pitchFamily="34" charset="-120"/>
              </a:rPr>
              <a:t>A 1990s baseline matched or beat the autoencoder on every cohort.</a:t>
            </a:r>
            <a:endParaRPr lang="en-US" sz="2400" dirty="0"/>
          </a:p>
        </p:txBody>
      </p:sp>
      <p:sp>
        <p:nvSpPr>
          <p:cNvPr id="5" name="Text 3"/>
          <p:cNvSpPr/>
          <p:nvPr/>
        </p:nvSpPr>
        <p:spPr>
          <a:xfrm>
            <a:off x="640080" y="1508760"/>
            <a:ext cx="10972800" cy="320040"/>
          </a:xfrm>
          <a:prstGeom prst="rect">
            <a:avLst/>
          </a:prstGeom>
          <a:noFill/>
          <a:ln/>
        </p:spPr>
        <p:txBody>
          <a:bodyPr wrap="square" rtlCol="0" anchor="ctr"/>
          <a:lstStyle/>
          <a:p>
            <a:pPr indent="0" marL="0">
              <a:buNone/>
            </a:pPr>
            <a:r>
              <a:rPr lang="en-US" sz="1200" i="1" dirty="0">
                <a:solidFill>
                  <a:srgbClr val="555555"/>
                </a:solidFill>
                <a:latin typeface="Calibri" pitchFamily="34" charset="0"/>
                <a:ea typeface="Calibri" pitchFamily="34" charset="-122"/>
                <a:cs typeface="Calibri" pitchFamily="34" charset="-120"/>
              </a:rPr>
              <a:t>Post-hoc: tests whether the autoencoder earned its complexity, does not rescue the primary result.</a:t>
            </a:r>
            <a:endParaRPr lang="en-US" sz="1200" dirty="0"/>
          </a:p>
        </p:txBody>
      </p:sp>
      <p:pic>
        <p:nvPicPr>
          <p:cNvPr id="6" name="Image 0" descr="/Users/arseniichan/Documents/Claude/Projects/CSC448/canary/reports/figures/ae_vs_tfidf_rank.png">    </p:cNvPr>
          <p:cNvPicPr>
            <a:picLocks noChangeAspect="1"/>
          </p:cNvPicPr>
          <p:nvPr/>
        </p:nvPicPr>
        <p:blipFill>
          <a:blip r:embed="rId1"/>
          <a:stretch>
            <a:fillRect/>
          </a:stretch>
        </p:blipFill>
        <p:spPr>
          <a:xfrm>
            <a:off x="1371600" y="1965960"/>
            <a:ext cx="9418320" cy="3657600"/>
          </a:xfrm>
          <a:prstGeom prst="rect">
            <a:avLst/>
          </a:prstGeom>
        </p:spPr>
      </p:pic>
      <p:sp>
        <p:nvSpPr>
          <p:cNvPr id="7" name="Text 4"/>
          <p:cNvSpPr/>
          <p:nvPr/>
        </p:nvSpPr>
        <p:spPr>
          <a:xfrm>
            <a:off x="640080" y="5715000"/>
            <a:ext cx="10972800" cy="640080"/>
          </a:xfrm>
          <a:prstGeom prst="rect">
            <a:avLst/>
          </a:prstGeom>
          <a:noFill/>
          <a:ln/>
        </p:spPr>
        <p:txBody>
          <a:bodyPr wrap="square" rtlCol="0" anchor="ctr"/>
          <a:lstStyle/>
          <a:p>
            <a:pPr indent="0" marL="0">
              <a:lnSpc>
                <a:spcPct val="130000"/>
              </a:lnSpc>
              <a:buNone/>
            </a:pPr>
            <a:r>
              <a:rPr lang="en-US" sz="1300" i="1" dirty="0">
                <a:solidFill>
                  <a:srgbClr val="1A1A1A"/>
                </a:solidFill>
                <a:latin typeface="Georgia" pitchFamily="34" charset="0"/>
                <a:ea typeface="Georgia" pitchFamily="34" charset="-122"/>
                <a:cs typeface="Georgia" pitchFamily="34" charset="-120"/>
              </a:rPr>
              <a:t>How to read the chart: shorter bar = lower rank number = better detection (rank 1 is most anomalous). Lehman: autoencoder rank 3/13, TF-IDF rank 1/13. Aggregate hit@5 is 0.40 (TF-IDF) vs 0.20 (autoencoder). The pre-registered model does not beat the trivial baseline.</a:t>
            </a:r>
            <a:endParaRPr lang="en-US" sz="1300" dirty="0"/>
          </a:p>
        </p:txBody>
      </p:sp>
      <p:sp>
        <p:nvSpPr>
          <p:cNvPr id="8" name="Text 5"/>
          <p:cNvSpPr/>
          <p:nvPr/>
        </p:nvSpPr>
        <p:spPr>
          <a:xfrm>
            <a:off x="457200" y="6446520"/>
            <a:ext cx="7315200" cy="274320"/>
          </a:xfrm>
          <a:prstGeom prst="rect">
            <a:avLst/>
          </a:prstGeom>
          <a:noFill/>
          <a:ln/>
        </p:spPr>
        <p:txBody>
          <a:bodyPr wrap="square" rtlCol="0" anchor="ctr"/>
          <a:lstStyle/>
          <a:p>
            <a:pPr algn="l" indent="0" marL="0">
              <a:buNone/>
            </a:pPr>
            <a:r>
              <a:rPr lang="en-US" sz="1000" dirty="0">
                <a:solidFill>
                  <a:srgbClr val="8A8A8A"/>
                </a:solidFill>
                <a:latin typeface="Calibri" pitchFamily="34" charset="0"/>
                <a:ea typeface="Calibri" pitchFamily="34" charset="-122"/>
                <a:cs typeface="Calibri" pitchFamily="34" charset="-120"/>
              </a:rPr>
              <a:t>Canary  ·  Arsenii Chan  ·  CSC 44800</a:t>
            </a:r>
            <a:endParaRPr lang="en-US" sz="1000" dirty="0"/>
          </a:p>
        </p:txBody>
      </p:sp>
      <p:sp>
        <p:nvSpPr>
          <p:cNvPr id="9" name="Text 6"/>
          <p:cNvSpPr/>
          <p:nvPr/>
        </p:nvSpPr>
        <p:spPr>
          <a:xfrm>
            <a:off x="10817352" y="6446520"/>
            <a:ext cx="914400" cy="274320"/>
          </a:xfrm>
          <a:prstGeom prst="rect">
            <a:avLst/>
          </a:prstGeom>
          <a:noFill/>
          <a:ln/>
        </p:spPr>
        <p:txBody>
          <a:bodyPr wrap="square" rtlCol="0" anchor="ctr"/>
          <a:lstStyle/>
          <a:p>
            <a:pPr algn="r" indent="0" marL="0">
              <a:buNone/>
            </a:pPr>
            <a:r>
              <a:rPr lang="en-US" sz="1000" dirty="0">
                <a:solidFill>
                  <a:srgbClr val="8A8A8A"/>
                </a:solidFill>
                <a:latin typeface="Calibri" pitchFamily="34" charset="0"/>
                <a:ea typeface="Calibri" pitchFamily="34" charset="-122"/>
                <a:cs typeface="Calibri" pitchFamily="34" charset="-120"/>
              </a:rPr>
              <a:t>5 / 7</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8F4"/>
        </a:solidFill>
      </p:bgPr>
    </p:bg>
    <p:spTree>
      <p:nvGrpSpPr>
        <p:cNvPr id="1" name=""/>
        <p:cNvGrpSpPr/>
        <p:nvPr/>
      </p:nvGrpSpPr>
      <p:grpSpPr>
        <a:xfrm>
          <a:off x="0" y="0"/>
          <a:ext cx="0" cy="0"/>
          <a:chOff x="0" y="0"/>
          <a:chExt cx="0" cy="0"/>
        </a:xfrm>
      </p:grpSpPr>
      <p:sp>
        <p:nvSpPr>
          <p:cNvPr id="2" name="Text 0"/>
          <p:cNvSpPr/>
          <p:nvPr/>
        </p:nvSpPr>
        <p:spPr>
          <a:xfrm>
            <a:off x="640080" y="457200"/>
            <a:ext cx="10972800" cy="274320"/>
          </a:xfrm>
          <a:prstGeom prst="rect">
            <a:avLst/>
          </a:prstGeom>
          <a:noFill/>
          <a:ln/>
        </p:spPr>
        <p:txBody>
          <a:bodyPr wrap="square" rtlCol="0" anchor="ctr"/>
          <a:lstStyle/>
          <a:p>
            <a:pPr indent="0" marL="0">
              <a:buNone/>
            </a:pPr>
            <a:r>
              <a:rPr lang="en-US" sz="1100" b="1" spc="400" kern="0" dirty="0">
                <a:solidFill>
                  <a:srgbClr val="5B7BB0"/>
                </a:solidFill>
                <a:latin typeface="Calibri" pitchFamily="34" charset="0"/>
                <a:ea typeface="Calibri" pitchFamily="34" charset="-122"/>
                <a:cs typeface="Calibri" pitchFamily="34" charset="-120"/>
              </a:rPr>
              <a:t>QUESTIONS I EXPECT</a:t>
            </a:r>
            <a:endParaRPr lang="en-US" sz="1100" dirty="0"/>
          </a:p>
        </p:txBody>
      </p:sp>
      <p:sp>
        <p:nvSpPr>
          <p:cNvPr id="3" name="Shape 1"/>
          <p:cNvSpPr/>
          <p:nvPr/>
        </p:nvSpPr>
        <p:spPr>
          <a:xfrm>
            <a:off x="640080" y="868680"/>
            <a:ext cx="548640" cy="36576"/>
          </a:xfrm>
          <a:prstGeom prst="rect">
            <a:avLst/>
          </a:prstGeom>
          <a:solidFill>
            <a:srgbClr val="D4A017"/>
          </a:solidFill>
          <a:ln w="12700">
            <a:solidFill>
              <a:srgbClr val="D4A017"/>
            </a:solidFill>
            <a:prstDash val="solid"/>
          </a:ln>
        </p:spPr>
      </p:sp>
      <p:sp>
        <p:nvSpPr>
          <p:cNvPr id="4" name="Shape 2"/>
          <p:cNvSpPr/>
          <p:nvPr/>
        </p:nvSpPr>
        <p:spPr>
          <a:xfrm>
            <a:off x="640080" y="1188720"/>
            <a:ext cx="11064240" cy="1554480"/>
          </a:xfrm>
          <a:prstGeom prst="rect">
            <a:avLst/>
          </a:prstGeom>
          <a:solidFill>
            <a:srgbClr val="FFFFFF"/>
          </a:solidFill>
          <a:ln w="6350">
            <a:solidFill>
              <a:srgbClr val="D9D9D9"/>
            </a:solidFill>
            <a:prstDash val="solid"/>
          </a:ln>
        </p:spPr>
      </p:sp>
      <p:sp>
        <p:nvSpPr>
          <p:cNvPr id="5" name="Shape 3"/>
          <p:cNvSpPr/>
          <p:nvPr/>
        </p:nvSpPr>
        <p:spPr>
          <a:xfrm>
            <a:off x="640080" y="1188720"/>
            <a:ext cx="36576" cy="1554480"/>
          </a:xfrm>
          <a:prstGeom prst="rect">
            <a:avLst/>
          </a:prstGeom>
          <a:solidFill>
            <a:srgbClr val="D4A017"/>
          </a:solidFill>
          <a:ln w="12700">
            <a:solidFill>
              <a:srgbClr val="D4A017"/>
            </a:solidFill>
            <a:prstDash val="solid"/>
          </a:ln>
        </p:spPr>
      </p:sp>
      <p:sp>
        <p:nvSpPr>
          <p:cNvPr id="6" name="Text 4"/>
          <p:cNvSpPr/>
          <p:nvPr/>
        </p:nvSpPr>
        <p:spPr>
          <a:xfrm>
            <a:off x="777240" y="1280160"/>
            <a:ext cx="457200" cy="365760"/>
          </a:xfrm>
          <a:prstGeom prst="rect">
            <a:avLst/>
          </a:prstGeom>
          <a:noFill/>
          <a:ln/>
        </p:spPr>
        <p:txBody>
          <a:bodyPr wrap="square" rtlCol="0" anchor="ctr"/>
          <a:lstStyle/>
          <a:p>
            <a:pPr indent="0" marL="0">
              <a:buNone/>
            </a:pPr>
            <a:r>
              <a:rPr lang="en-US" sz="1800" b="1" dirty="0">
                <a:solidFill>
                  <a:srgbClr val="D4A017"/>
                </a:solidFill>
                <a:latin typeface="Georgia" pitchFamily="34" charset="0"/>
                <a:ea typeface="Georgia" pitchFamily="34" charset="-122"/>
                <a:cs typeface="Georgia" pitchFamily="34" charset="-120"/>
              </a:rPr>
              <a:t>Q</a:t>
            </a:r>
            <a:endParaRPr lang="en-US" sz="1800" dirty="0"/>
          </a:p>
        </p:txBody>
      </p:sp>
      <p:sp>
        <p:nvSpPr>
          <p:cNvPr id="7" name="Text 5"/>
          <p:cNvSpPr/>
          <p:nvPr/>
        </p:nvSpPr>
        <p:spPr>
          <a:xfrm>
            <a:off x="1280160" y="1280160"/>
            <a:ext cx="10058400" cy="365760"/>
          </a:xfrm>
          <a:prstGeom prst="rect">
            <a:avLst/>
          </a:prstGeom>
          <a:noFill/>
          <a:ln/>
        </p:spPr>
        <p:txBody>
          <a:bodyPr wrap="square" rtlCol="0" anchor="ctr"/>
          <a:lstStyle/>
          <a:p>
            <a:pPr indent="0" marL="0">
              <a:buNone/>
            </a:pPr>
            <a:r>
              <a:rPr lang="en-US" sz="1400" b="1" dirty="0">
                <a:solidFill>
                  <a:srgbClr val="0E1A33"/>
                </a:solidFill>
                <a:latin typeface="Calibri" pitchFamily="34" charset="0"/>
                <a:ea typeface="Calibri" pitchFamily="34" charset="-122"/>
                <a:cs typeface="Calibri" pitchFamily="34" charset="-120"/>
              </a:rPr>
              <a:t>Did you check a trivial baseline?</a:t>
            </a:r>
            <a:endParaRPr lang="en-US" sz="1400" dirty="0"/>
          </a:p>
        </p:txBody>
      </p:sp>
      <p:sp>
        <p:nvSpPr>
          <p:cNvPr id="8" name="Text 6"/>
          <p:cNvSpPr/>
          <p:nvPr/>
        </p:nvSpPr>
        <p:spPr>
          <a:xfrm>
            <a:off x="1280160" y="1645920"/>
            <a:ext cx="10241280" cy="1051560"/>
          </a:xfrm>
          <a:prstGeom prst="rect">
            <a:avLst/>
          </a:prstGeom>
          <a:noFill/>
          <a:ln/>
        </p:spPr>
        <p:txBody>
          <a:bodyPr wrap="square" rtlCol="0" anchor="ctr"/>
          <a:lstStyle/>
          <a:p>
            <a:pPr indent="0" marL="0">
              <a:lnSpc>
                <a:spcPct val="130000"/>
              </a:lnSpc>
              <a:buNone/>
            </a:pPr>
            <a:r>
              <a:rPr lang="en-US" sz="1200" dirty="0">
                <a:solidFill>
                  <a:srgbClr val="1A1A1A"/>
                </a:solidFill>
                <a:latin typeface="Georgia" pitchFamily="34" charset="0"/>
                <a:ea typeface="Georgia" pitchFamily="34" charset="-122"/>
                <a:cs typeface="Georgia" pitchFamily="34" charset="-120"/>
              </a:rPr>
              <a:t>Yes. TF-IDF + truncated-SVD, same bottleneck dimension, same training corpora. It matches or beats the autoencoder on every cohort. The honest claim is that the autoencoder adds nothing here. Slide 5.</a:t>
            </a:r>
            <a:endParaRPr lang="en-US" sz="1200" dirty="0"/>
          </a:p>
        </p:txBody>
      </p:sp>
      <p:sp>
        <p:nvSpPr>
          <p:cNvPr id="9" name="Shape 7"/>
          <p:cNvSpPr/>
          <p:nvPr/>
        </p:nvSpPr>
        <p:spPr>
          <a:xfrm>
            <a:off x="640080" y="2834640"/>
            <a:ext cx="11064240" cy="1554480"/>
          </a:xfrm>
          <a:prstGeom prst="rect">
            <a:avLst/>
          </a:prstGeom>
          <a:solidFill>
            <a:srgbClr val="FFFFFF"/>
          </a:solidFill>
          <a:ln w="6350">
            <a:solidFill>
              <a:srgbClr val="D9D9D9"/>
            </a:solidFill>
            <a:prstDash val="solid"/>
          </a:ln>
        </p:spPr>
      </p:sp>
      <p:sp>
        <p:nvSpPr>
          <p:cNvPr id="10" name="Shape 8"/>
          <p:cNvSpPr/>
          <p:nvPr/>
        </p:nvSpPr>
        <p:spPr>
          <a:xfrm>
            <a:off x="640080" y="2834640"/>
            <a:ext cx="36576" cy="1554480"/>
          </a:xfrm>
          <a:prstGeom prst="rect">
            <a:avLst/>
          </a:prstGeom>
          <a:solidFill>
            <a:srgbClr val="D4A017"/>
          </a:solidFill>
          <a:ln w="12700">
            <a:solidFill>
              <a:srgbClr val="D4A017"/>
            </a:solidFill>
            <a:prstDash val="solid"/>
          </a:ln>
        </p:spPr>
      </p:sp>
      <p:sp>
        <p:nvSpPr>
          <p:cNvPr id="11" name="Text 9"/>
          <p:cNvSpPr/>
          <p:nvPr/>
        </p:nvSpPr>
        <p:spPr>
          <a:xfrm>
            <a:off x="777240" y="2926080"/>
            <a:ext cx="457200" cy="365760"/>
          </a:xfrm>
          <a:prstGeom prst="rect">
            <a:avLst/>
          </a:prstGeom>
          <a:noFill/>
          <a:ln/>
        </p:spPr>
        <p:txBody>
          <a:bodyPr wrap="square" rtlCol="0" anchor="ctr"/>
          <a:lstStyle/>
          <a:p>
            <a:pPr indent="0" marL="0">
              <a:buNone/>
            </a:pPr>
            <a:r>
              <a:rPr lang="en-US" sz="1800" b="1" dirty="0">
                <a:solidFill>
                  <a:srgbClr val="D4A017"/>
                </a:solidFill>
                <a:latin typeface="Georgia" pitchFamily="34" charset="0"/>
                <a:ea typeface="Georgia" pitchFamily="34" charset="-122"/>
                <a:cs typeface="Georgia" pitchFamily="34" charset="-120"/>
              </a:rPr>
              <a:t>Q</a:t>
            </a:r>
            <a:endParaRPr lang="en-US" sz="1800" dirty="0"/>
          </a:p>
        </p:txBody>
      </p:sp>
      <p:sp>
        <p:nvSpPr>
          <p:cNvPr id="12" name="Text 10"/>
          <p:cNvSpPr/>
          <p:nvPr/>
        </p:nvSpPr>
        <p:spPr>
          <a:xfrm>
            <a:off x="1280160" y="2926080"/>
            <a:ext cx="10058400" cy="365760"/>
          </a:xfrm>
          <a:prstGeom prst="rect">
            <a:avLst/>
          </a:prstGeom>
          <a:noFill/>
          <a:ln/>
        </p:spPr>
        <p:txBody>
          <a:bodyPr wrap="square" rtlCol="0" anchor="ctr"/>
          <a:lstStyle/>
          <a:p>
            <a:pPr indent="0" marL="0">
              <a:buNone/>
            </a:pPr>
            <a:r>
              <a:rPr lang="en-US" sz="1400" b="1" dirty="0">
                <a:solidFill>
                  <a:srgbClr val="0E1A33"/>
                </a:solidFill>
                <a:latin typeface="Calibri" pitchFamily="34" charset="0"/>
                <a:ea typeface="Calibri" pitchFamily="34" charset="-122"/>
                <a:cs typeface="Calibri" pitchFamily="34" charset="-120"/>
              </a:rPr>
              <a:t>The baseline is post-hoc. Isn't that HARKing (hypothesizing after results)?</a:t>
            </a:r>
            <a:endParaRPr lang="en-US" sz="1400" dirty="0"/>
          </a:p>
        </p:txBody>
      </p:sp>
      <p:sp>
        <p:nvSpPr>
          <p:cNvPr id="13" name="Text 11"/>
          <p:cNvSpPr/>
          <p:nvPr/>
        </p:nvSpPr>
        <p:spPr>
          <a:xfrm>
            <a:off x="1280160" y="3291840"/>
            <a:ext cx="10241280" cy="1051560"/>
          </a:xfrm>
          <a:prstGeom prst="rect">
            <a:avLst/>
          </a:prstGeom>
          <a:noFill/>
          <a:ln/>
        </p:spPr>
        <p:txBody>
          <a:bodyPr wrap="square" rtlCol="0" anchor="ctr"/>
          <a:lstStyle/>
          <a:p>
            <a:pPr indent="0" marL="0">
              <a:lnSpc>
                <a:spcPct val="130000"/>
              </a:lnSpc>
              <a:buNone/>
            </a:pPr>
            <a:r>
              <a:rPr lang="en-US" sz="1200" dirty="0">
                <a:solidFill>
                  <a:srgbClr val="1A1A1A"/>
                </a:solidFill>
                <a:latin typeface="Georgia" pitchFamily="34" charset="0"/>
                <a:ea typeface="Georgia" pitchFamily="34" charset="-122"/>
                <a:cs typeface="Georgia" pitchFamily="34" charset="-120"/>
              </a:rPr>
              <a:t>The pre-registered hypothesis was about the autoencoder, and the autoencoder result is reported unchanged. The TF-IDF baseline was added after seeing the null and is reported as post-hoc. The primary null does not depend on it.</a:t>
            </a:r>
            <a:endParaRPr lang="en-US" sz="1200" dirty="0"/>
          </a:p>
        </p:txBody>
      </p:sp>
      <p:sp>
        <p:nvSpPr>
          <p:cNvPr id="14" name="Shape 12"/>
          <p:cNvSpPr/>
          <p:nvPr/>
        </p:nvSpPr>
        <p:spPr>
          <a:xfrm>
            <a:off x="640080" y="4480560"/>
            <a:ext cx="11064240" cy="1554480"/>
          </a:xfrm>
          <a:prstGeom prst="rect">
            <a:avLst/>
          </a:prstGeom>
          <a:solidFill>
            <a:srgbClr val="FFFFFF"/>
          </a:solidFill>
          <a:ln w="6350">
            <a:solidFill>
              <a:srgbClr val="D9D9D9"/>
            </a:solidFill>
            <a:prstDash val="solid"/>
          </a:ln>
        </p:spPr>
      </p:sp>
      <p:sp>
        <p:nvSpPr>
          <p:cNvPr id="15" name="Shape 13"/>
          <p:cNvSpPr/>
          <p:nvPr/>
        </p:nvSpPr>
        <p:spPr>
          <a:xfrm>
            <a:off x="640080" y="4480560"/>
            <a:ext cx="36576" cy="1554480"/>
          </a:xfrm>
          <a:prstGeom prst="rect">
            <a:avLst/>
          </a:prstGeom>
          <a:solidFill>
            <a:srgbClr val="D4A017"/>
          </a:solidFill>
          <a:ln w="12700">
            <a:solidFill>
              <a:srgbClr val="D4A017"/>
            </a:solidFill>
            <a:prstDash val="solid"/>
          </a:ln>
        </p:spPr>
      </p:sp>
      <p:sp>
        <p:nvSpPr>
          <p:cNvPr id="16" name="Text 14"/>
          <p:cNvSpPr/>
          <p:nvPr/>
        </p:nvSpPr>
        <p:spPr>
          <a:xfrm>
            <a:off x="777240" y="4572000"/>
            <a:ext cx="457200" cy="365760"/>
          </a:xfrm>
          <a:prstGeom prst="rect">
            <a:avLst/>
          </a:prstGeom>
          <a:noFill/>
          <a:ln/>
        </p:spPr>
        <p:txBody>
          <a:bodyPr wrap="square" rtlCol="0" anchor="ctr"/>
          <a:lstStyle/>
          <a:p>
            <a:pPr indent="0" marL="0">
              <a:buNone/>
            </a:pPr>
            <a:r>
              <a:rPr lang="en-US" sz="1800" b="1" dirty="0">
                <a:solidFill>
                  <a:srgbClr val="D4A017"/>
                </a:solidFill>
                <a:latin typeface="Georgia" pitchFamily="34" charset="0"/>
                <a:ea typeface="Georgia" pitchFamily="34" charset="-122"/>
                <a:cs typeface="Georgia" pitchFamily="34" charset="-120"/>
              </a:rPr>
              <a:t>Q</a:t>
            </a:r>
            <a:endParaRPr lang="en-US" sz="1800" dirty="0"/>
          </a:p>
        </p:txBody>
      </p:sp>
      <p:sp>
        <p:nvSpPr>
          <p:cNvPr id="17" name="Text 15"/>
          <p:cNvSpPr/>
          <p:nvPr/>
        </p:nvSpPr>
        <p:spPr>
          <a:xfrm>
            <a:off x="1280160" y="4572000"/>
            <a:ext cx="10058400" cy="365760"/>
          </a:xfrm>
          <a:prstGeom prst="rect">
            <a:avLst/>
          </a:prstGeom>
          <a:noFill/>
          <a:ln/>
        </p:spPr>
        <p:txBody>
          <a:bodyPr wrap="square" rtlCol="0" anchor="ctr"/>
          <a:lstStyle/>
          <a:p>
            <a:pPr indent="0" marL="0">
              <a:buNone/>
            </a:pPr>
            <a:r>
              <a:rPr lang="en-US" sz="1400" b="1" dirty="0">
                <a:solidFill>
                  <a:srgbClr val="0E1A33"/>
                </a:solidFill>
                <a:latin typeface="Calibri" pitchFamily="34" charset="0"/>
                <a:ea typeface="Calibri" pitchFamily="34" charset="-122"/>
                <a:cs typeface="Calibri" pitchFamily="34" charset="-120"/>
              </a:rPr>
              <a:t>Could MiniLM have memorized 'Lehman' / 'Repo 105' / etc.?</a:t>
            </a:r>
            <a:endParaRPr lang="en-US" sz="1400" dirty="0"/>
          </a:p>
        </p:txBody>
      </p:sp>
      <p:sp>
        <p:nvSpPr>
          <p:cNvPr id="18" name="Text 16"/>
          <p:cNvSpPr/>
          <p:nvPr/>
        </p:nvSpPr>
        <p:spPr>
          <a:xfrm>
            <a:off x="1280160" y="4937760"/>
            <a:ext cx="10241280" cy="1051560"/>
          </a:xfrm>
          <a:prstGeom prst="rect">
            <a:avLst/>
          </a:prstGeom>
          <a:noFill/>
          <a:ln/>
        </p:spPr>
        <p:txBody>
          <a:bodyPr wrap="square" rtlCol="0" anchor="ctr"/>
          <a:lstStyle/>
          <a:p>
            <a:pPr indent="0" marL="0">
              <a:lnSpc>
                <a:spcPct val="130000"/>
              </a:lnSpc>
              <a:buNone/>
            </a:pPr>
            <a:r>
              <a:rPr lang="en-US" sz="1200" dirty="0">
                <a:solidFill>
                  <a:srgbClr val="1A1A1A"/>
                </a:solidFill>
                <a:latin typeface="Georgia" pitchFamily="34" charset="0"/>
                <a:ea typeface="Georgia" pitchFamily="34" charset="-122"/>
                <a:cs typeface="Georgia" pitchFamily="34" charset="-120"/>
              </a:rPr>
              <a:t>Tested post-hoc. Masked 93 such mentions with [ENTITY] and re-scored. Lehman's rank held at 3/13 (delta = 0). Exact-token name leakage did not explain the rank; topical leakage remains open.</a:t>
            </a:r>
            <a:endParaRPr lang="en-US" sz="1200" dirty="0"/>
          </a:p>
        </p:txBody>
      </p:sp>
      <p:sp>
        <p:nvSpPr>
          <p:cNvPr id="19" name="Text 17"/>
          <p:cNvSpPr/>
          <p:nvPr/>
        </p:nvSpPr>
        <p:spPr>
          <a:xfrm>
            <a:off x="457200" y="6446520"/>
            <a:ext cx="7315200" cy="274320"/>
          </a:xfrm>
          <a:prstGeom prst="rect">
            <a:avLst/>
          </a:prstGeom>
          <a:noFill/>
          <a:ln/>
        </p:spPr>
        <p:txBody>
          <a:bodyPr wrap="square" rtlCol="0" anchor="ctr"/>
          <a:lstStyle/>
          <a:p>
            <a:pPr algn="l" indent="0" marL="0">
              <a:buNone/>
            </a:pPr>
            <a:r>
              <a:rPr lang="en-US" sz="1000" dirty="0">
                <a:solidFill>
                  <a:srgbClr val="8A8A8A"/>
                </a:solidFill>
                <a:latin typeface="Calibri" pitchFamily="34" charset="0"/>
                <a:ea typeface="Calibri" pitchFamily="34" charset="-122"/>
                <a:cs typeface="Calibri" pitchFamily="34" charset="-120"/>
              </a:rPr>
              <a:t>Canary  ·  Arsenii Chan  ·  CSC 44800</a:t>
            </a:r>
            <a:endParaRPr lang="en-US" sz="1000" dirty="0"/>
          </a:p>
        </p:txBody>
      </p:sp>
      <p:sp>
        <p:nvSpPr>
          <p:cNvPr id="20" name="Text 18"/>
          <p:cNvSpPr/>
          <p:nvPr/>
        </p:nvSpPr>
        <p:spPr>
          <a:xfrm>
            <a:off x="10817352" y="6446520"/>
            <a:ext cx="914400" cy="274320"/>
          </a:xfrm>
          <a:prstGeom prst="rect">
            <a:avLst/>
          </a:prstGeom>
          <a:noFill/>
          <a:ln/>
        </p:spPr>
        <p:txBody>
          <a:bodyPr wrap="square" rtlCol="0" anchor="ctr"/>
          <a:lstStyle/>
          <a:p>
            <a:pPr algn="r" indent="0" marL="0">
              <a:buNone/>
            </a:pPr>
            <a:r>
              <a:rPr lang="en-US" sz="1000" dirty="0">
                <a:solidFill>
                  <a:srgbClr val="8A8A8A"/>
                </a:solidFill>
                <a:latin typeface="Calibri" pitchFamily="34" charset="0"/>
                <a:ea typeface="Calibri" pitchFamily="34" charset="-122"/>
                <a:cs typeface="Calibri" pitchFamily="34" charset="-120"/>
              </a:rPr>
              <a:t>6 / 7</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E1A33"/>
        </a:solidFill>
      </p:bgPr>
    </p:bg>
    <p:spTree>
      <p:nvGrpSpPr>
        <p:cNvPr id="1" name=""/>
        <p:cNvGrpSpPr/>
        <p:nvPr/>
      </p:nvGrpSpPr>
      <p:grpSpPr>
        <a:xfrm>
          <a:off x="0" y="0"/>
          <a:ext cx="0" cy="0"/>
          <a:chOff x="0" y="0"/>
          <a:chExt cx="0" cy="0"/>
        </a:xfrm>
      </p:grpSpPr>
      <p:sp>
        <p:nvSpPr>
          <p:cNvPr id="2" name="Text 0"/>
          <p:cNvSpPr/>
          <p:nvPr/>
        </p:nvSpPr>
        <p:spPr>
          <a:xfrm>
            <a:off x="640080" y="502920"/>
            <a:ext cx="10972800" cy="365760"/>
          </a:xfrm>
          <a:prstGeom prst="rect">
            <a:avLst/>
          </a:prstGeom>
          <a:noFill/>
          <a:ln/>
        </p:spPr>
        <p:txBody>
          <a:bodyPr wrap="square" rtlCol="0" anchor="ctr"/>
          <a:lstStyle/>
          <a:p>
            <a:pPr indent="0" marL="0">
              <a:buNone/>
            </a:pPr>
            <a:r>
              <a:rPr lang="en-US" sz="1200" b="1" spc="400" kern="0" dirty="0">
                <a:solidFill>
                  <a:srgbClr val="D4A017"/>
                </a:solidFill>
                <a:latin typeface="Calibri" pitchFamily="34" charset="0"/>
                <a:ea typeface="Calibri" pitchFamily="34" charset="-122"/>
                <a:cs typeface="Calibri" pitchFamily="34" charset="-120"/>
              </a:rPr>
              <a:t>CONCLUSION</a:t>
            </a:r>
            <a:endParaRPr lang="en-US" sz="1200" dirty="0"/>
          </a:p>
        </p:txBody>
      </p:sp>
      <p:sp>
        <p:nvSpPr>
          <p:cNvPr id="3" name="Shape 1"/>
          <p:cNvSpPr/>
          <p:nvPr/>
        </p:nvSpPr>
        <p:spPr>
          <a:xfrm>
            <a:off x="640080" y="914400"/>
            <a:ext cx="548640" cy="36576"/>
          </a:xfrm>
          <a:prstGeom prst="rect">
            <a:avLst/>
          </a:prstGeom>
          <a:solidFill>
            <a:srgbClr val="D4A017"/>
          </a:solidFill>
          <a:ln w="12700">
            <a:solidFill>
              <a:srgbClr val="D4A017"/>
            </a:solidFill>
            <a:prstDash val="solid"/>
          </a:ln>
        </p:spPr>
      </p:sp>
      <p:sp>
        <p:nvSpPr>
          <p:cNvPr id="4" name="Text 2"/>
          <p:cNvSpPr/>
          <p:nvPr/>
        </p:nvSpPr>
        <p:spPr>
          <a:xfrm>
            <a:off x="640080" y="1280160"/>
            <a:ext cx="9601200" cy="640080"/>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What survived: pre-registration.</a:t>
            </a:r>
            <a:endParaRPr lang="en-US" sz="2800" dirty="0"/>
          </a:p>
        </p:txBody>
      </p:sp>
      <p:sp>
        <p:nvSpPr>
          <p:cNvPr id="5" name="Text 3"/>
          <p:cNvSpPr/>
          <p:nvPr/>
        </p:nvSpPr>
        <p:spPr>
          <a:xfrm>
            <a:off x="640080" y="1920240"/>
            <a:ext cx="9601200" cy="640080"/>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What failed: the autoencoder beyond the TF-IDF baseline.</a:t>
            </a:r>
            <a:endParaRPr lang="en-US" sz="2800" dirty="0"/>
          </a:p>
        </p:txBody>
      </p:sp>
      <p:sp>
        <p:nvSpPr>
          <p:cNvPr id="6" name="Text 4"/>
          <p:cNvSpPr/>
          <p:nvPr/>
        </p:nvSpPr>
        <p:spPr>
          <a:xfrm>
            <a:off x="640080" y="2926080"/>
            <a:ext cx="9601200" cy="822960"/>
          </a:xfrm>
          <a:prstGeom prst="rect">
            <a:avLst/>
          </a:prstGeom>
          <a:noFill/>
          <a:ln/>
        </p:spPr>
        <p:txBody>
          <a:bodyPr wrap="square" rtlCol="0" anchor="ctr"/>
          <a:lstStyle/>
          <a:p>
            <a:pPr indent="0" marL="0">
              <a:lnSpc>
                <a:spcPct val="130000"/>
              </a:lnSpc>
              <a:buNone/>
            </a:pPr>
            <a:r>
              <a:rPr lang="en-US" sz="1500" i="1" dirty="0">
                <a:solidFill>
                  <a:srgbClr val="CFD8E8"/>
                </a:solidFill>
                <a:latin typeface="Georgia" pitchFamily="34" charset="0"/>
                <a:ea typeface="Georgia" pitchFamily="34" charset="-122"/>
                <a:cs typeface="Georgia" pitchFamily="34" charset="-120"/>
              </a:rPr>
              <a:t>A result that loses to a baseline is not evidence for the neural model. The contract held; the model did not.</a:t>
            </a:r>
            <a:endParaRPr lang="en-US" sz="1500" dirty="0"/>
          </a:p>
        </p:txBody>
      </p:sp>
      <p:sp>
        <p:nvSpPr>
          <p:cNvPr id="7" name="Text 5"/>
          <p:cNvSpPr/>
          <p:nvPr/>
        </p:nvSpPr>
        <p:spPr>
          <a:xfrm>
            <a:off x="640080" y="4023360"/>
            <a:ext cx="9601200" cy="365760"/>
          </a:xfrm>
          <a:prstGeom prst="rect">
            <a:avLst/>
          </a:prstGeom>
          <a:noFill/>
          <a:ln/>
        </p:spPr>
        <p:txBody>
          <a:bodyPr wrap="square" rtlCol="0" anchor="ctr"/>
          <a:lstStyle/>
          <a:p>
            <a:pPr indent="0" marL="0">
              <a:buNone/>
            </a:pPr>
            <a:r>
              <a:rPr lang="en-US" sz="1200" b="1" spc="400" kern="0" dirty="0">
                <a:solidFill>
                  <a:srgbClr val="D4A017"/>
                </a:solidFill>
                <a:latin typeface="Calibri" pitchFamily="34" charset="0"/>
                <a:ea typeface="Calibri" pitchFamily="34" charset="-122"/>
                <a:cs typeface="Calibri" pitchFamily="34" charset="-120"/>
              </a:rPr>
              <a:t>Next experiment</a:t>
            </a:r>
            <a:endParaRPr lang="en-US" sz="1200" dirty="0"/>
          </a:p>
        </p:txBody>
      </p:sp>
      <p:sp>
        <p:nvSpPr>
          <p:cNvPr id="8" name="Shape 6"/>
          <p:cNvSpPr/>
          <p:nvPr/>
        </p:nvSpPr>
        <p:spPr>
          <a:xfrm>
            <a:off x="640080" y="4389120"/>
            <a:ext cx="365760" cy="36576"/>
          </a:xfrm>
          <a:prstGeom prst="rect">
            <a:avLst/>
          </a:prstGeom>
          <a:solidFill>
            <a:srgbClr val="D4A017"/>
          </a:solidFill>
          <a:ln w="12700">
            <a:solidFill>
              <a:srgbClr val="D4A017"/>
            </a:solidFill>
            <a:prstDash val="solid"/>
          </a:ln>
        </p:spPr>
      </p:sp>
      <p:sp>
        <p:nvSpPr>
          <p:cNvPr id="9" name="Text 7"/>
          <p:cNvSpPr/>
          <p:nvPr/>
        </p:nvSpPr>
        <p:spPr>
          <a:xfrm>
            <a:off x="640080" y="4572000"/>
            <a:ext cx="9601200" cy="822960"/>
          </a:xfrm>
          <a:prstGeom prst="rect">
            <a:avLst/>
          </a:prstGeom>
          <a:noFill/>
          <a:ln/>
        </p:spPr>
        <p:txBody>
          <a:bodyPr wrap="square" rtlCol="0" anchor="ctr"/>
          <a:lstStyle/>
          <a:p>
            <a:pPr indent="0" marL="0">
              <a:lnSpc>
                <a:spcPct val="130000"/>
              </a:lnSpc>
              <a:buNone/>
            </a:pPr>
            <a:r>
              <a:rPr lang="en-US" sz="1500" dirty="0">
                <a:solidFill>
                  <a:srgbClr val="FFFFFF"/>
                </a:solidFill>
                <a:latin typeface="Georgia" pitchFamily="34" charset="0"/>
                <a:ea typeface="Georgia" pitchFamily="34" charset="-122"/>
                <a:cs typeface="Georgia" pitchFamily="34" charset="-120"/>
              </a:rPr>
              <a:t>Same autoencoder, within-firm temporal delta. Does Lehman's MD&amp;A look anomalous against Lehman's own prior-year MD&amp;A?</a:t>
            </a:r>
            <a:endParaRPr lang="en-US" sz="1500" dirty="0"/>
          </a:p>
        </p:txBody>
      </p:sp>
      <p:sp>
        <p:nvSpPr>
          <p:cNvPr id="10" name="Text 8"/>
          <p:cNvSpPr/>
          <p:nvPr/>
        </p:nvSpPr>
        <p:spPr>
          <a:xfrm>
            <a:off x="10058400" y="4160520"/>
            <a:ext cx="1828800" cy="274320"/>
          </a:xfrm>
          <a:prstGeom prst="rect">
            <a:avLst/>
          </a:prstGeom>
          <a:noFill/>
          <a:ln/>
        </p:spPr>
        <p:txBody>
          <a:bodyPr wrap="square" rtlCol="0" anchor="ctr"/>
          <a:lstStyle/>
          <a:p>
            <a:pPr algn="ctr" indent="0" marL="0">
              <a:buNone/>
            </a:pPr>
            <a:r>
              <a:rPr lang="en-US" sz="1000" i="1" dirty="0">
                <a:solidFill>
                  <a:srgbClr val="CFD8E8"/>
                </a:solidFill>
                <a:latin typeface="Calibri" pitchFamily="34" charset="0"/>
                <a:ea typeface="Calibri" pitchFamily="34" charset="-122"/>
                <a:cs typeface="Calibri" pitchFamily="34" charset="-120"/>
              </a:rPr>
              <a:t>Scan to try the pipeline</a:t>
            </a:r>
            <a:endParaRPr lang="en-US" sz="1000" dirty="0"/>
          </a:p>
        </p:txBody>
      </p:sp>
      <p:pic>
        <p:nvPicPr>
          <p:cNvPr id="11" name="Image 0" descr="/Users/arseniichan/Documents/Claude/Projects/CSC448/canary/reports/figures/qr_demo.png">    </p:cNvPr>
          <p:cNvPicPr>
            <a:picLocks noChangeAspect="1"/>
          </p:cNvPicPr>
          <p:nvPr/>
        </p:nvPicPr>
        <p:blipFill>
          <a:blip r:embed="rId1"/>
          <a:stretch>
            <a:fillRect/>
          </a:stretch>
        </p:blipFill>
        <p:spPr>
          <a:xfrm>
            <a:off x="10287000" y="4480560"/>
            <a:ext cx="1371600" cy="1371600"/>
          </a:xfrm>
          <a:prstGeom prst="rect">
            <a:avLst/>
          </a:prstGeom>
        </p:spPr>
      </p:pic>
      <p:sp>
        <p:nvSpPr>
          <p:cNvPr id="12" name="Text 9"/>
          <p:cNvSpPr/>
          <p:nvPr/>
        </p:nvSpPr>
        <p:spPr>
          <a:xfrm>
            <a:off x="640080" y="5989320"/>
            <a:ext cx="10972800" cy="274320"/>
          </a:xfrm>
          <a:prstGeom prst="rect">
            <a:avLst/>
          </a:prstGeom>
          <a:noFill/>
          <a:ln/>
        </p:spPr>
        <p:txBody>
          <a:bodyPr wrap="square" rtlCol="0" anchor="ctr"/>
          <a:lstStyle/>
          <a:p>
            <a:pPr indent="0" marL="0">
              <a:buNone/>
            </a:pPr>
            <a:r>
              <a:rPr lang="en-US" sz="1200" dirty="0">
                <a:solidFill>
                  <a:srgbClr val="CFD8E8"/>
                </a:solidFill>
                <a:latin typeface="Calibri" pitchFamily="34" charset="0"/>
                <a:ea typeface="Calibri" pitchFamily="34" charset="-122"/>
                <a:cs typeface="Calibri" pitchFamily="34" charset="-120"/>
              </a:rPr>
              <a:t>Pipeline demo (not a fraud scanner): </a:t>
            </a:r>
            <a:pPr indent="0" marL="0">
              <a:buNone/>
            </a:pPr>
            <a:r>
              <a:rPr lang="en-US" sz="1200" b="1" dirty="0">
                <a:solidFill>
                  <a:srgbClr val="D4A017"/>
                </a:solidFill>
                <a:latin typeface="Calibri" pitchFamily="34" charset="0"/>
                <a:ea typeface="Calibri" pitchFamily="34" charset="-122"/>
                <a:cs typeface="Calibri" pitchFamily="34" charset="-120"/>
              </a:rPr>
              <a:t>canary-psi.vercel.app/scan</a:t>
            </a:r>
            <a:endParaRPr lang="en-US" sz="1200" dirty="0"/>
          </a:p>
        </p:txBody>
      </p:sp>
      <p:sp>
        <p:nvSpPr>
          <p:cNvPr id="13" name="Text 10"/>
          <p:cNvSpPr/>
          <p:nvPr/>
        </p:nvSpPr>
        <p:spPr>
          <a:xfrm>
            <a:off x="640080" y="6263640"/>
            <a:ext cx="10972800" cy="274320"/>
          </a:xfrm>
          <a:prstGeom prst="rect">
            <a:avLst/>
          </a:prstGeom>
          <a:noFill/>
          <a:ln/>
        </p:spPr>
        <p:txBody>
          <a:bodyPr wrap="square" rtlCol="0" anchor="ctr"/>
          <a:lstStyle/>
          <a:p>
            <a:pPr indent="0" marL="0">
              <a:buNone/>
            </a:pPr>
            <a:r>
              <a:rPr lang="en-US" sz="1200" dirty="0">
                <a:solidFill>
                  <a:srgbClr val="CFD8E8"/>
                </a:solidFill>
                <a:latin typeface="Calibri" pitchFamily="34" charset="0"/>
                <a:ea typeface="Calibri" pitchFamily="34" charset="-122"/>
                <a:cs typeface="Calibri" pitchFamily="34" charset="-120"/>
              </a:rPr>
              <a:t>Code: </a:t>
            </a:r>
            <a:pPr indent="0" marL="0">
              <a:buNone/>
            </a:pPr>
            <a:r>
              <a:rPr lang="en-US" sz="1200" b="1" dirty="0">
                <a:solidFill>
                  <a:srgbClr val="D4A017"/>
                </a:solidFill>
                <a:latin typeface="Calibri" pitchFamily="34" charset="0"/>
                <a:ea typeface="Calibri" pitchFamily="34" charset="-122"/>
                <a:cs typeface="Calibri" pitchFamily="34" charset="-120"/>
              </a:rPr>
              <a:t>github.com/ArseniiChan/canary</a:t>
            </a:r>
            <a:pPr indent="0" marL="0">
              <a:buNone/>
            </a:pPr>
            <a:r>
              <a:rPr lang="en-US" sz="1200" dirty="0">
                <a:solidFill>
                  <a:srgbClr val="CFD8E8"/>
                </a:solidFill>
                <a:latin typeface="Calibri" pitchFamily="34" charset="0"/>
                <a:ea typeface="Calibri" pitchFamily="34" charset="-122"/>
                <a:cs typeface="Calibri" pitchFamily="34" charset="-120"/>
              </a:rPr>
              <a:t>    ·    Tag: </a:t>
            </a:r>
            <a:pPr indent="0" marL="0">
              <a:buNone/>
            </a:pPr>
            <a:r>
              <a:rPr lang="en-US" sz="1200" b="1" dirty="0">
                <a:solidFill>
                  <a:srgbClr val="D4A017"/>
                </a:solidFill>
                <a:latin typeface="Calibri" pitchFamily="34" charset="0"/>
                <a:ea typeface="Calibri" pitchFamily="34" charset="-122"/>
                <a:cs typeface="Calibri" pitchFamily="34" charset="-120"/>
              </a:rPr>
              <a:t>validation-spec-frozen</a:t>
            </a:r>
            <a:endParaRPr lang="en-US" sz="1200" dirty="0"/>
          </a:p>
        </p:txBody>
      </p:sp>
      <p:sp>
        <p:nvSpPr>
          <p:cNvPr id="14" name="Text 11"/>
          <p:cNvSpPr/>
          <p:nvPr/>
        </p:nvSpPr>
        <p:spPr>
          <a:xfrm>
            <a:off x="640080" y="6583680"/>
            <a:ext cx="10972800" cy="274320"/>
          </a:xfrm>
          <a:prstGeom prst="rect">
            <a:avLst/>
          </a:prstGeom>
          <a:noFill/>
          <a:ln/>
        </p:spPr>
        <p:txBody>
          <a:bodyPr wrap="square" rtlCol="0" anchor="ctr"/>
          <a:lstStyle/>
          <a:p>
            <a:pPr indent="0" marL="0">
              <a:buNone/>
            </a:pPr>
            <a:r>
              <a:rPr lang="en-US" sz="1400" i="1" dirty="0">
                <a:solidFill>
                  <a:srgbClr val="FFFFFF"/>
                </a:solidFill>
                <a:latin typeface="Georgia" pitchFamily="34" charset="0"/>
                <a:ea typeface="Georgia" pitchFamily="34" charset="-122"/>
                <a:cs typeface="Georgia" pitchFamily="34" charset="-120"/>
              </a:rPr>
              <a:t>Thanks.</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CSC 44800, CCNY, Spring 2026</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Canary: Pre-Registered Single-Signal Novelty Study on SEC 10-K MD&amp;A</dc:title>
  <dc:subject>PptxGenJS Presentation</dc:subject>
  <dc:creator>Arsenii Chan</dc:creator>
  <cp:lastModifiedBy>Arsenii Chan</cp:lastModifiedBy>
  <cp:revision>1</cp:revision>
  <dcterms:created xsi:type="dcterms:W3CDTF">2026-05-04T01:56:56Z</dcterms:created>
  <dcterms:modified xsi:type="dcterms:W3CDTF">2026-05-04T01:56:56Z</dcterms:modified>
</cp:coreProperties>
</file>