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ranks the ones that look most unusual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lands in the top three within its peer group. Three out of thirteen. The statistical test is highly significant, BUT the effect size is small [point at warning glyph]. Both numbers matter; reporting either one alone is misleading. And as you'll see on the next slide, even on Lehman, a 1990s baseline beats my model.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line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0A279F"/>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Can a computer reading a company's annual report</a:t>
            </a:r>
            <a:endParaRPr lang="en-US" sz="3000" dirty="0"/>
          </a:p>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tell which ones turned out to be committing accounting fraud?</a:t>
            </a:r>
            <a:endParaRPr lang="en-US" sz="3000" dirty="0"/>
          </a:p>
        </p:txBody>
      </p:sp>
      <p:sp>
        <p:nvSpPr>
          <p:cNvPr id="4" name="Shape 2"/>
          <p:cNvSpPr/>
          <p:nvPr/>
        </p:nvSpPr>
        <p:spPr>
          <a:xfrm>
            <a:off x="640080" y="3108960"/>
            <a:ext cx="1097280" cy="45720"/>
          </a:xfrm>
          <a:prstGeom prst="rect">
            <a:avLst/>
          </a:prstGeom>
          <a:solidFill>
            <a:srgbClr val="0A279F"/>
          </a:solidFill>
          <a:ln w="12700">
            <a:solidFill>
              <a:srgbClr val="0A279F"/>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0A279F"/>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0A279F"/>
          </a:solidFill>
          <a:ln w="12700">
            <a:solidFill>
              <a:srgbClr val="0A279F"/>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the autoencoder did rank highly (Lehman) is n = 1, and a 1990s TF-IDF baseline beats the autoencoder on it.</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0A279F"/>
          </a:solidFill>
          <a:ln w="12700">
            <a:solidFill>
              <a:srgbClr val="0A279F"/>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0A279F"/>
          </a:solidFill>
          <a:ln w="12700">
            <a:solidFill>
              <a:srgbClr val="0A279F"/>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0A279F"/>
          </a:solidFill>
          <a:ln w="12700">
            <a:solidFill>
              <a:srgbClr val="0A279F"/>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0A279F"/>
          </a:solidFill>
          <a:ln w="12700">
            <a:solidFill>
              <a:srgbClr val="0A279F"/>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0A279F"/>
          </a:solidFill>
          <a:ln w="12700">
            <a:solidFill>
              <a:srgbClr val="0A279F"/>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0A279F"/>
          </a:solidFill>
          <a:ln w="12700">
            <a:solidFill>
              <a:srgbClr val="0A279F"/>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0A279F"/>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0A279F"/>
          </a:solidFill>
          <a:ln w="12700">
            <a:solidFill>
              <a:srgbClr val="0A279F"/>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926080"/>
            <a:ext cx="9601200" cy="822960"/>
          </a:xfrm>
          <a:prstGeom prst="rect">
            <a:avLst/>
          </a:prstGeom>
          <a:noFill/>
          <a:ln/>
        </p:spPr>
        <p:txBody>
          <a:bodyPr wrap="square" rtlCol="0" anchor="ctr"/>
          <a:lstStyle/>
          <a:p>
            <a:pPr indent="0" marL="0">
              <a:lnSpc>
                <a:spcPct val="130000"/>
              </a:lnSpc>
              <a:buNone/>
            </a:pPr>
            <a:r>
              <a:rPr lang="en-US" sz="15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500" dirty="0"/>
          </a:p>
        </p:txBody>
      </p:sp>
      <p:sp>
        <p:nvSpPr>
          <p:cNvPr id="7" name="Text 5"/>
          <p:cNvSpPr/>
          <p:nvPr/>
        </p:nvSpPr>
        <p:spPr>
          <a:xfrm>
            <a:off x="640080" y="4023360"/>
            <a:ext cx="9601200" cy="365760"/>
          </a:xfrm>
          <a:prstGeom prst="rect">
            <a:avLst/>
          </a:prstGeom>
          <a:noFill/>
          <a:ln/>
        </p:spPr>
        <p:txBody>
          <a:bodyPr wrap="square" rtlCol="0" anchor="ctr"/>
          <a:lstStyle/>
          <a:p>
            <a:pPr indent="0" marL="0">
              <a:buNone/>
            </a:pPr>
            <a:r>
              <a:rPr lang="en-US" sz="1200" b="1" spc="400" kern="0" dirty="0">
                <a:solidFill>
                  <a:srgbClr val="0A279F"/>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0A279F"/>
          </a:solidFill>
          <a:ln w="12700">
            <a:solidFill>
              <a:srgbClr val="0A279F"/>
            </a:solidFill>
            <a:prstDash val="solid"/>
          </a:ln>
        </p:spPr>
      </p:sp>
      <p:sp>
        <p:nvSpPr>
          <p:cNvPr id="9" name="Text 7"/>
          <p:cNvSpPr/>
          <p:nvPr/>
        </p:nvSpPr>
        <p:spPr>
          <a:xfrm>
            <a:off x="640080" y="4572000"/>
            <a:ext cx="9601200" cy="822960"/>
          </a:xfrm>
          <a:prstGeom prst="rect">
            <a:avLst/>
          </a:prstGeom>
          <a:noFill/>
          <a:ln/>
        </p:spPr>
        <p:txBody>
          <a:bodyPr wrap="square" rtlCol="0" anchor="ctr"/>
          <a:lstStyle/>
          <a:p>
            <a:pPr indent="0" marL="0">
              <a:lnSpc>
                <a:spcPct val="130000"/>
              </a:lnSpc>
              <a:buNone/>
            </a:pPr>
            <a:r>
              <a:rPr lang="en-US" sz="15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500" dirty="0"/>
          </a:p>
        </p:txBody>
      </p:sp>
      <p:sp>
        <p:nvSpPr>
          <p:cNvPr id="10" name="Text 8"/>
          <p:cNvSpPr/>
          <p:nvPr/>
        </p:nvSpPr>
        <p:spPr>
          <a:xfrm>
            <a:off x="10058400" y="4160520"/>
            <a:ext cx="1828800" cy="27432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1" name="Image 0" descr="/Users/arseniichan/Documents/Claude/Projects/CSC448/canary/reports/figures/qr_demo.png">    </p:cNvPr>
          <p:cNvPicPr>
            <a:picLocks noChangeAspect="1"/>
          </p:cNvPicPr>
          <p:nvPr/>
        </p:nvPicPr>
        <p:blipFill>
          <a:blip r:embed="rId1"/>
          <a:stretch>
            <a:fillRect/>
          </a:stretch>
        </p:blipFill>
        <p:spPr>
          <a:xfrm>
            <a:off x="10287000" y="4480560"/>
            <a:ext cx="1371600" cy="1371600"/>
          </a:xfrm>
          <a:prstGeom prst="rect">
            <a:avLst/>
          </a:prstGeom>
        </p:spPr>
      </p:pic>
      <p:sp>
        <p:nvSpPr>
          <p:cNvPr id="12" name="Text 9"/>
          <p:cNvSpPr/>
          <p:nvPr/>
        </p:nvSpPr>
        <p:spPr>
          <a:xfrm>
            <a:off x="640080" y="598932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0A279F"/>
                </a:solidFill>
                <a:latin typeface="Calibri" pitchFamily="34" charset="0"/>
                <a:ea typeface="Calibri" pitchFamily="34" charset="-122"/>
                <a:cs typeface="Calibri" pitchFamily="34" charset="-120"/>
              </a:rPr>
              <a:t>canary-psi.vercel.app/scan</a:t>
            </a:r>
            <a:endParaRPr lang="en-US" sz="1200" dirty="0"/>
          </a:p>
        </p:txBody>
      </p:sp>
      <p:sp>
        <p:nvSpPr>
          <p:cNvPr id="13" name="Text 10"/>
          <p:cNvSpPr/>
          <p:nvPr/>
        </p:nvSpPr>
        <p:spPr>
          <a:xfrm>
            <a:off x="640080" y="626364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Code: </a:t>
            </a:r>
            <a:pPr indent="0" marL="0">
              <a:buNone/>
            </a:pPr>
            <a:r>
              <a:rPr lang="en-US" sz="1200" b="1" dirty="0">
                <a:solidFill>
                  <a:srgbClr val="0A279F"/>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0A279F"/>
                </a:solidFill>
                <a:latin typeface="Calibri" pitchFamily="34" charset="0"/>
                <a:ea typeface="Calibri" pitchFamily="34" charset="-122"/>
                <a:cs typeface="Calibri" pitchFamily="34" charset="-120"/>
              </a:rPr>
              <a:t>validation-spec-frozen</a:t>
            </a:r>
            <a:endParaRPr lang="en-US" sz="1200" dirty="0"/>
          </a:p>
        </p:txBody>
      </p:sp>
      <p:sp>
        <p:nvSpPr>
          <p:cNvPr id="14" name="Text 11"/>
          <p:cNvSpPr/>
          <p:nvPr/>
        </p:nvSpPr>
        <p:spPr>
          <a:xfrm>
            <a:off x="640080" y="6583680"/>
            <a:ext cx="10972800" cy="274320"/>
          </a:xfrm>
          <a:prstGeom prst="rect">
            <a:avLst/>
          </a:prstGeom>
          <a:noFill/>
          <a:ln/>
        </p:spPr>
        <p:txBody>
          <a:bodyPr wrap="square"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Thanks.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2026-05-06T20:44:50Z</dcterms:created>
  <dcterms:modified xsi:type="dcterms:W3CDTF">2026-05-06T20:44:50Z</dcterms:modified>
</cp:coreProperties>
</file>