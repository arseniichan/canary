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a simple one: do companies that turn out to have been committing accounting fraud write their annual reports differently from honest companies, and can a machine learning model detect that difference? Six famous cases. One specific test. Let me show you what came back."
(Pause. Click to slide 2.)
STAGE NOTES:
- Don't announce the conclusion. Don't say "honestly" or "negative result"; both pre-spoil the talk.
- Open with the question. The audience leans forward.
- No jargon out loud: never say "autoencoder" or "MD&amp;A" aloud. Keep them on the slide only.
- The slide shows just the first half of the question ("do they write differently"). You verbally complete it ("and can a model detect that"). The audience reads the slide while you fill in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Enron, WorldCom, Tyco, HealthSouth, Valeant, Lehman Brothers. Each one was later proven to have been misrepresenting its financial condition at the time of this filing. The SEC or class-action lawsuits exposed them years afterward; each cost investors over a billion dollars. I paired each fraud filing against companies in the same industry, same year, that turned out to be clean.
The model never sees the word 'fraud' during training. It just reads the long English-prose section of each annual report, where management explains the year in their own words, and learns what a 'normal' filing looks like industry by industry. Then it ranks the unusual filings against their peers.
The formal question is on the slide [point at pull-quote]. The one-line answer this report defends is on the next bullet [point at it]. I'll spend the rest of the talk on the evidence."
(Click to slide 3.)
STAGE NOTES:
- Don't read the pull-quote out loud. It's full of jargon and the audience can read it faster than you can speak it. Just point.
- Same with the one-line answer. Pointing is faster than reading.
- The "long English-prose section where management explains the year" is the plain-English explanation of MD&amp;A. Don't say "MD&amp;A" out loud unless someone asks — the slide pull-quote shows the formal name for the technical reader.
- The context line about each cohort being a multi-billion-dollar fraud is critical for audience comprehension. By the time they reach slide 4 they need to know these names matter. Don't skip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put the methodology on the table. The methodology is what makes the result mean anything.
Three rules I locked in BEFORE I ran the test. [point at columns]
One: the model never sees a fraud during training. For each fraud case, the model trains on clean filings from OTHER cases. The fraud being tested is held out.
Two: the model never sees the future. Within that training set, only filings dated on or before the fraud's filing date are eligible. The model can't be informed by language that came out AFTER the fraud was discovered.
Three: single pass, no tuning. Architecture, hyperparameters, the test set: all written down and locked into the repo BEFORE the test ran. [point at git-tag panel:] Top right shows the actual lock,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Avoid jargon: don't say "LOCO" or "MiniLM" aloud. Say "leave-one-out" or "the embedding model"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evaluable, one excluded; I'll come back to the excluded one.
[point at Lehman row] Only Lehman — the investment bank whose collapse triggered the 2008 financial crisis — lands in the top three within its peer group. Three out of thirteen. The statistical test is highly significant, BUT the effect size is small [point at warning glyph]. Both numbers matter; reporting either one alone is misleading. And as you'll see on the next slide, even on Lehman, a 1990s baseline beats my model.
[quick scan with hand] The other four (HealthSouth, Valeant, Tyco, WorldCom) all rank no better than random expectation. The test goes the OPPOSITE direction from what we'd want. Aggregate hit rates fall at or below random.
Now, Enron. [point at italicized row] Enron's filing date is April 2nd, 2001. Every other peer in every other case is dated later. Under the strict rule I locked in, Enron has no eligible training data.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point at them on the projection.
- The forward-pointer line ("a 1990s baseline beats my model") is critical. If a listener tunes out during slide 5, they need to walk away with this on slide 4. Don't skip it.
- The Enron exclusion is the most likely Q&amp;A target. Pre-empt it: "I had a choice: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that I think actually matters.
After the test ran, I asked myself the question every machine-learning paper should answer and most don't: would a method from before I was born produce the same result?
So I ran one. [point at chart] A simple word-counting method with the same compression step. The kind of thing you could have written in 1995 from a textbook. Same training data, same statistical tests, same pipeline shape. No neural network. No transformer.
[point at chart] On four of five cases, the 1995 method TIES the modern one. [point at Lehman bar] On Lehman, the one case the modern method got, the 1995 method gets it BETTER. The p-value is many orders of magnitude smaller.
Let me say what I'm not saying and then what I am saying.
I am NOT saying the modern method is broken, or that neural networks are unhelpful for this kind of problem.
I AM saying that on these five cases, with the rules I locked in, the modern method did not show a measurable advantage over a method I could have run in 1995.
If you take one thing from this talk, this is it: a sharp baseline isn't optional. A result that loses to a baseline is not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or "simple word-counting method" is the spoken phrase. The slide and chart already show the technical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with quick answers so we have time for whatever else you actually want to ask.
Did you check a trivial baseline? Yes. Same compression dimension, same training data. The 1995 baseline matches or beats the modern method on every case. The honest claim is that the modern method adds nothing here. Slide 5.
The baseline is post-hoc, isn't that HARKing? The pre-registered hypothesis was about the modern method, and that result is reported unchanged. The 1995 baseline was added after seeing the null and is reported as post-hoc. The primary null doesn't depend on it.
Could the embedding model have memorized 'Lehman' or 'Repo 105'? I tested that. I masked 93 such mentions in Lehman's filing with a placeholder and re-scored. Lehman's rank held at 3 out of 13. Exact-token name leakage doesn't explain the rank."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LAND THE URLs CLEANLY. PAUSE ONE BEAT AFTER "THANKS."
SAY:
"Two takeaways.
What survived: pre-registration. The contract held. I didn't iterate the model, I didn't redefine 'clean,' I didn't retreat from the Enron exclusion when the result was uncomfortable.
What failed: the modern method beyond the 1990s baseline. A result that loses to a baseline is not evidence for the neural model.
The next experiment is on the slide: same model, same filings, but compare the company against ITSELF across years instead of against peers. That's the falsifiable next step this study couldn't run.
[point at footer] Try the pipeline at the link below: paste any annual report,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 through 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(saves 15 seconds)
- Skip third Q&amp;A on Slide 6 (saves 15 seconds)
- Skip next-experiment line on Slide 7 (saves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400" b="1" spc="1200" kern="0" dirty="0">
                <a:solidFill>
                  <a:srgbClr val="3B82F6"/>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188720"/>
            <a:ext cx="10972800" cy="1645920"/>
          </a:xfrm>
          <a:prstGeom prst="rect">
            <a:avLst/>
          </a:prstGeom>
          <a:noFill/>
          <a:ln/>
        </p:spPr>
        <p:txBody>
          <a:bodyPr wrap="square" rtlCol="0" anchor="t"/>
          <a:lstStyle/>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Do companies committing accounting fraud</a:t>
            </a:r>
            <a:endParaRPr lang="en-US" sz="3600" dirty="0"/>
          </a:p>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write their annual reports differently?</a:t>
            </a:r>
            <a:endParaRPr lang="en-US" sz="3600" dirty="0"/>
          </a:p>
        </p:txBody>
      </p:sp>
      <p:sp>
        <p:nvSpPr>
          <p:cNvPr id="4" name="Shape 2"/>
          <p:cNvSpPr/>
          <p:nvPr/>
        </p:nvSpPr>
        <p:spPr>
          <a:xfrm>
            <a:off x="640080" y="3108960"/>
            <a:ext cx="1097280" cy="45720"/>
          </a:xfrm>
          <a:prstGeom prst="rect">
            <a:avLst/>
          </a:prstGeom>
          <a:solidFill>
            <a:srgbClr val="3B82F6"/>
          </a:solidFill>
          <a:ln w="12700">
            <a:solidFill>
              <a:srgbClr val="3B82F6"/>
            </a:solidFill>
            <a:prstDash val="solid"/>
          </a:ln>
        </p:spPr>
      </p:sp>
      <p:sp>
        <p:nvSpPr>
          <p:cNvPr id="5" name="Text 3"/>
          <p:cNvSpPr/>
          <p:nvPr/>
        </p:nvSpPr>
        <p:spPr>
          <a:xfrm>
            <a:off x="640080" y="3291840"/>
            <a:ext cx="10972800" cy="365760"/>
          </a:xfrm>
          <a:prstGeom prst="rect">
            <a:avLst/>
          </a:prstGeom>
          <a:noFill/>
          <a:ln/>
        </p:spPr>
        <p:txBody>
          <a:bodyPr wrap="square" rtlCol="0" anchor="ctr"/>
          <a:lstStyle/>
          <a:p>
            <a:pPr indent="0" marL="0">
              <a:buNone/>
            </a:pPr>
            <a:r>
              <a:rPr lang="en-US" sz="1600" i="1" dirty="0">
                <a:solidFill>
                  <a:srgbClr val="CFD8E8"/>
                </a:solidFill>
                <a:latin typeface="Georgia" pitchFamily="34" charset="0"/>
                <a:ea typeface="Georgia" pitchFamily="34" charset="-122"/>
                <a:cs typeface="Georgia" pitchFamily="34" charset="-120"/>
              </a:rPr>
              <a:t>A pre-registered novelty study on SEC 10-K filings.</a:t>
            </a:r>
            <a:endParaRPr lang="en-US" sz="1600" dirty="0"/>
          </a:p>
        </p:txBody>
      </p:sp>
      <p:sp>
        <p:nvSpPr>
          <p:cNvPr id="6" name="Text 4"/>
          <p:cNvSpPr/>
          <p:nvPr/>
        </p:nvSpPr>
        <p:spPr>
          <a:xfrm>
            <a:off x="640080" y="402336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Trained: </a:t>
            </a:r>
            <a:pPr indent="0" marL="0">
              <a:buNone/>
            </a:pPr>
            <a:r>
              <a:rPr lang="en-US" sz="1500" dirty="0">
                <a:solidFill>
                  <a:srgbClr val="FFFFFF"/>
                </a:solidFill>
                <a:latin typeface="Calibri" pitchFamily="34" charset="0"/>
                <a:ea typeface="Calibri" pitchFamily="34" charset="-122"/>
                <a:cs typeface="Calibri" pitchFamily="34" charset="-120"/>
              </a:rPr>
              <a:t>five small autoencoders in PyTorch, one per held-out fraud cohort.</a:t>
            </a:r>
            <a:endParaRPr lang="en-US" sz="1500" dirty="0"/>
          </a:p>
        </p:txBody>
      </p:sp>
      <p:sp>
        <p:nvSpPr>
          <p:cNvPr id="7" name="Text 5"/>
          <p:cNvSpPr/>
          <p:nvPr/>
        </p:nvSpPr>
        <p:spPr>
          <a:xfrm>
            <a:off x="640080" y="443484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Reused: </a:t>
            </a:r>
            <a:pPr indent="0" marL="0">
              <a:buNone/>
            </a:pPr>
            <a:r>
              <a:rPr lang="en-US" sz="1500" dirty="0">
                <a:solidFill>
                  <a:srgbClr val="FFFFFF"/>
                </a:solidFill>
                <a:latin typeface="Calibri" pitchFamily="34" charset="0"/>
                <a:ea typeface="Calibri" pitchFamily="34" charset="-122"/>
                <a:cs typeface="Calibri" pitchFamily="34" charset="-120"/>
              </a:rPr>
              <a:t>a pretrained MiniLM transformer, frozen, as a sentence-to-vector encoder.</a:t>
            </a:r>
            <a:endParaRPr lang="en-US" sz="1500" dirty="0"/>
          </a:p>
        </p:txBody>
      </p:sp>
      <p:sp>
        <p:nvSpPr>
          <p:cNvPr id="8" name="Text 6"/>
          <p:cNvSpPr/>
          <p:nvPr/>
        </p:nvSpPr>
        <p:spPr>
          <a:xfrm>
            <a:off x="640080" y="484632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Tested: </a:t>
            </a:r>
            <a:pPr indent="0" marL="0">
              <a:buNone/>
            </a:pPr>
            <a:r>
              <a:rPr lang="en-US" sz="1500" dirty="0">
                <a:solidFill>
                  <a:srgbClr val="FFFFFF"/>
                </a:solidFill>
                <a:latin typeface="Calibri" pitchFamily="34" charset="0"/>
                <a:ea typeface="Calibri" pitchFamily="34" charset="-122"/>
                <a:cs typeface="Calibri" pitchFamily="34" charset="-120"/>
              </a:rPr>
              <a:t>six historical accounting frauds; methodology locked in git before any number was looked at.</a:t>
            </a:r>
            <a:endParaRPr lang="en-US" sz="1500" dirty="0"/>
          </a:p>
        </p:txBody>
      </p:sp>
      <p:sp>
        <p:nvSpPr>
          <p:cNvPr id="9" name="Text 7"/>
          <p:cNvSpPr/>
          <p:nvPr/>
        </p:nvSpPr>
        <p:spPr>
          <a:xfrm>
            <a:off x="640080" y="5943600"/>
            <a:ext cx="82296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pic>
        <p:nvPicPr>
          <p:cNvPr id="10" name="Image 0" descr="/Users/arseniichan/Documents/Claude/Projects/CSC448/canary/reports/figures/qr_demo.png">    </p:cNvPr>
          <p:cNvPicPr>
            <a:picLocks noChangeAspect="1"/>
          </p:cNvPicPr>
          <p:nvPr/>
        </p:nvPicPr>
        <p:blipFill>
          <a:blip r:embed="rId1"/>
          <a:stretch>
            <a:fillRect/>
          </a:stretch>
        </p:blipFill>
        <p:spPr>
          <a:xfrm>
            <a:off x="10424160" y="5212080"/>
            <a:ext cx="1188720" cy="1188720"/>
          </a:xfrm>
          <a:prstGeom prst="rect">
            <a:avLst/>
          </a:prstGeom>
        </p:spPr>
      </p:pic>
      <p:sp>
        <p:nvSpPr>
          <p:cNvPr id="11" name="Text 8"/>
          <p:cNvSpPr/>
          <p:nvPr/>
        </p:nvSpPr>
        <p:spPr>
          <a:xfrm>
            <a:off x="10241280" y="6400800"/>
            <a:ext cx="1554480" cy="228600"/>
          </a:xfrm>
          <a:prstGeom prst="rect">
            <a:avLst/>
          </a:prstGeom>
          <a:noFill/>
          <a:ln/>
        </p:spPr>
        <p:txBody>
          <a:bodyPr wrap="square" rtlCol="0" anchor="ctr"/>
          <a:lstStyle/>
          <a:p>
            <a:pPr algn="ctr" indent="0" marL="0">
              <a:buNone/>
            </a:pPr>
            <a:r>
              <a:rPr lang="en-US" sz="900" i="1" dirty="0">
                <a:solidFill>
                  <a:srgbClr val="CFD8E8"/>
                </a:solidFill>
                <a:latin typeface="Calibri" pitchFamily="34" charset="0"/>
                <a:ea typeface="Calibri" pitchFamily="34" charset="-122"/>
                <a:cs typeface="Calibri" pitchFamily="34" charset="-120"/>
              </a:rPr>
              <a:t>scan to try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3B82F6"/>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141519"/>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3B82F6"/>
          </a:solidFill>
          <a:ln w="12700">
            <a:solidFill>
              <a:srgbClr val="3B82F6"/>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across four of five evaluable cohorts; Enron is not evaluable under the frozen rule; the one cohort the autoencoder did rank highly (Lehman) is n = 1, and a 1990s TF-IDF baseline beats the autoencoder on it.</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141519"/>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3B82F6"/>
          </a:solidFill>
          <a:ln w="12700">
            <a:solidFill>
              <a:srgbClr val="3B82F6"/>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3B82F6"/>
          </a:solidFill>
          <a:ln w="12700">
            <a:solidFill>
              <a:srgbClr val="3B82F6"/>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(MiniLM pretraining is a separate caveat.)</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3B82F6"/>
          </a:solidFill>
          <a:ln w="12700">
            <a:solidFill>
              <a:srgbClr val="3B82F6"/>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Whatever the test produces, the contract makes the result interpretable.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200" b="1" dirty="0">
                <a:solidFill>
                  <a:srgbClr val="141519"/>
                </a:solidFill>
                <a:latin typeface="Georgia" pitchFamily="34" charset="0"/>
                <a:ea typeface="Georgia" pitchFamily="34" charset="-122"/>
                <a:cs typeface="Georgia" pitchFamily="34" charset="-120"/>
              </a:rPr>
              <a:t>Only Lehman ranks better than random expectation; even there, a 1990s baseline beats the autoencoder.</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r>
              <a:tr h="411480">
                <a:tc>
                  <a:txBody>
                    <a:bodyPr/>
                    <a:lstStyle/>
                    <a:p>
                      <a:pPr indent="0" marL="0">
                        <a:buNone/>
                      </a:pPr>
                      <a:r>
                        <a:rPr lang="en-US" sz="1300" b="1" dirty="0">
                          <a:solidFill>
                            <a:srgbClr val="141519"/>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141519"/>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autoencoder</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beats the autoencoder there too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141519"/>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How to read the chart: shorter bar = lower rank number = better detection (rank 1 is most anomalous). Lehman: autoencoder rank 3/13, TF-IDF rank 1/13. Aggregate hit@5 is 0.40 (TF-IDF) vs 0.20 (autoencoder).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3B82F6"/>
          </a:solidFill>
          <a:ln w="12700">
            <a:solidFill>
              <a:srgbClr val="3B82F6"/>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3B82F6"/>
          </a:solidFill>
          <a:ln w="12700">
            <a:solidFill>
              <a:srgbClr val="3B82F6"/>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3B82F6"/>
          </a:solidFill>
          <a:ln w="12700">
            <a:solidFill>
              <a:srgbClr val="3B82F6"/>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3B82F6"/>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3B82F6"/>
          </a:solidFill>
          <a:ln w="12700">
            <a:solidFill>
              <a:srgbClr val="3B82F6"/>
            </a:solidFill>
            <a:prstDash val="solid"/>
          </a:ln>
        </p:spPr>
      </p:sp>
      <p:sp>
        <p:nvSpPr>
          <p:cNvPr id="4" name="Text 2"/>
          <p:cNvSpPr/>
          <p:nvPr/>
        </p:nvSpPr>
        <p:spPr>
          <a:xfrm>
            <a:off x="640080" y="128016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survived: pre-registration.</a:t>
            </a:r>
            <a:endParaRPr lang="en-US" sz="2800" dirty="0"/>
          </a:p>
        </p:txBody>
      </p:sp>
      <p:sp>
        <p:nvSpPr>
          <p:cNvPr id="5" name="Text 3"/>
          <p:cNvSpPr/>
          <p:nvPr/>
        </p:nvSpPr>
        <p:spPr>
          <a:xfrm>
            <a:off x="640080" y="192024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failed: the autoencoder beyond the TF-IDF baseline.</a:t>
            </a:r>
            <a:endParaRPr lang="en-US" sz="2800" dirty="0"/>
          </a:p>
        </p:txBody>
      </p:sp>
      <p:sp>
        <p:nvSpPr>
          <p:cNvPr id="6" name="Text 4"/>
          <p:cNvSpPr/>
          <p:nvPr/>
        </p:nvSpPr>
        <p:spPr>
          <a:xfrm>
            <a:off x="640080" y="2926080"/>
            <a:ext cx="9601200" cy="822960"/>
          </a:xfrm>
          <a:prstGeom prst="rect">
            <a:avLst/>
          </a:prstGeom>
          <a:noFill/>
          <a:ln/>
        </p:spPr>
        <p:txBody>
          <a:bodyPr wrap="square" rtlCol="0" anchor="ctr"/>
          <a:lstStyle/>
          <a:p>
            <a:pPr indent="0" marL="0">
              <a:lnSpc>
                <a:spcPct val="130000"/>
              </a:lnSpc>
              <a:buNone/>
            </a:pPr>
            <a:r>
              <a:rPr lang="en-US" sz="15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500" dirty="0"/>
          </a:p>
        </p:txBody>
      </p:sp>
      <p:sp>
        <p:nvSpPr>
          <p:cNvPr id="7" name="Text 5"/>
          <p:cNvSpPr/>
          <p:nvPr/>
        </p:nvSpPr>
        <p:spPr>
          <a:xfrm>
            <a:off x="640080" y="4023360"/>
            <a:ext cx="9601200" cy="365760"/>
          </a:xfrm>
          <a:prstGeom prst="rect">
            <a:avLst/>
          </a:prstGeom>
          <a:noFill/>
          <a:ln/>
        </p:spPr>
        <p:txBody>
          <a:bodyPr wrap="square" rtlCol="0" anchor="ctr"/>
          <a:lstStyle/>
          <a:p>
            <a:pPr indent="0" marL="0">
              <a:buNone/>
            </a:pPr>
            <a:r>
              <a:rPr lang="en-US" sz="1200" b="1" spc="400" kern="0" dirty="0">
                <a:solidFill>
                  <a:srgbClr val="3B82F6"/>
                </a:solidFill>
                <a:latin typeface="Calibri" pitchFamily="34" charset="0"/>
                <a:ea typeface="Calibri" pitchFamily="34" charset="-122"/>
                <a:cs typeface="Calibri" pitchFamily="34" charset="-120"/>
              </a:rPr>
              <a:t>Next experiment</a:t>
            </a:r>
            <a:endParaRPr lang="en-US" sz="1200" dirty="0"/>
          </a:p>
        </p:txBody>
      </p:sp>
      <p:sp>
        <p:nvSpPr>
          <p:cNvPr id="8" name="Shape 6"/>
          <p:cNvSpPr/>
          <p:nvPr/>
        </p:nvSpPr>
        <p:spPr>
          <a:xfrm>
            <a:off x="640080" y="4389120"/>
            <a:ext cx="365760" cy="36576"/>
          </a:xfrm>
          <a:prstGeom prst="rect">
            <a:avLst/>
          </a:prstGeom>
          <a:solidFill>
            <a:srgbClr val="3B82F6"/>
          </a:solidFill>
          <a:ln w="12700">
            <a:solidFill>
              <a:srgbClr val="3B82F6"/>
            </a:solidFill>
            <a:prstDash val="solid"/>
          </a:ln>
        </p:spPr>
      </p:sp>
      <p:sp>
        <p:nvSpPr>
          <p:cNvPr id="9" name="Text 7"/>
          <p:cNvSpPr/>
          <p:nvPr/>
        </p:nvSpPr>
        <p:spPr>
          <a:xfrm>
            <a:off x="640080" y="4572000"/>
            <a:ext cx="9601200" cy="822960"/>
          </a:xfrm>
          <a:prstGeom prst="rect">
            <a:avLst/>
          </a:prstGeom>
          <a:noFill/>
          <a:ln/>
        </p:spPr>
        <p:txBody>
          <a:bodyPr wrap="square" rtlCol="0" anchor="ctr"/>
          <a:lstStyle/>
          <a:p>
            <a:pPr indent="0" marL="0">
              <a:lnSpc>
                <a:spcPct val="130000"/>
              </a:lnSpc>
              <a:buNone/>
            </a:pPr>
            <a:r>
              <a:rPr lang="en-US" sz="1500" dirty="0">
                <a:solidFill>
                  <a:srgbClr val="FFFFFF"/>
                </a:solidFill>
                <a:latin typeface="Georgia" pitchFamily="34" charset="0"/>
                <a:ea typeface="Georgia" pitchFamily="34" charset="-122"/>
                <a:cs typeface="Georgia" pitchFamily="34" charset="-120"/>
              </a:rPr>
              <a:t>Same autoencoder, within-firm temporal delta. Does Lehman's MD&amp;A look anomalous against Lehman's own prior-year MD&amp;A?</a:t>
            </a:r>
            <a:endParaRPr lang="en-US" sz="1500" dirty="0"/>
          </a:p>
        </p:txBody>
      </p:sp>
      <p:sp>
        <p:nvSpPr>
          <p:cNvPr id="10" name="Text 8"/>
          <p:cNvSpPr/>
          <p:nvPr/>
        </p:nvSpPr>
        <p:spPr>
          <a:xfrm>
            <a:off x="10058400" y="4160520"/>
            <a:ext cx="1828800" cy="274320"/>
          </a:xfrm>
          <a:prstGeom prst="rect">
            <a:avLst/>
          </a:prstGeom>
          <a:noFill/>
          <a:ln/>
        </p:spPr>
        <p:txBody>
          <a:bodyPr wrap="square" rtlCol="0" anchor="ctr"/>
          <a:lstStyle/>
          <a:p>
            <a:pPr algn="ctr" indent="0" marL="0">
              <a:buNone/>
            </a:pPr>
            <a:r>
              <a:rPr lang="en-US" sz="1000" i="1" dirty="0">
                <a:solidFill>
                  <a:srgbClr val="CFD8E8"/>
                </a:solidFill>
                <a:latin typeface="Calibri" pitchFamily="34" charset="0"/>
                <a:ea typeface="Calibri" pitchFamily="34" charset="-122"/>
                <a:cs typeface="Calibri" pitchFamily="34" charset="-120"/>
              </a:rPr>
              <a:t>Scan to try the pipeline</a:t>
            </a:r>
            <a:endParaRPr lang="en-US" sz="1000" dirty="0"/>
          </a:p>
        </p:txBody>
      </p:sp>
      <p:pic>
        <p:nvPicPr>
          <p:cNvPr id="11" name="Image 0" descr="/Users/arseniichan/Documents/Claude/Projects/CSC448/canary/reports/figures/qr_demo.png">    </p:cNvPr>
          <p:cNvPicPr>
            <a:picLocks noChangeAspect="1"/>
          </p:cNvPicPr>
          <p:nvPr/>
        </p:nvPicPr>
        <p:blipFill>
          <a:blip r:embed="rId1"/>
          <a:stretch>
            <a:fillRect/>
          </a:stretch>
        </p:blipFill>
        <p:spPr>
          <a:xfrm>
            <a:off x="10287000" y="4480560"/>
            <a:ext cx="1371600" cy="1371600"/>
          </a:xfrm>
          <a:prstGeom prst="rect">
            <a:avLst/>
          </a:prstGeom>
        </p:spPr>
      </p:pic>
      <p:sp>
        <p:nvSpPr>
          <p:cNvPr id="12" name="Text 9"/>
          <p:cNvSpPr/>
          <p:nvPr/>
        </p:nvSpPr>
        <p:spPr>
          <a:xfrm>
            <a:off x="640080" y="598932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200" b="1" dirty="0">
                <a:solidFill>
                  <a:srgbClr val="3B82F6"/>
                </a:solidFill>
                <a:latin typeface="Calibri" pitchFamily="34" charset="0"/>
                <a:ea typeface="Calibri" pitchFamily="34" charset="-122"/>
                <a:cs typeface="Calibri" pitchFamily="34" charset="-120"/>
              </a:rPr>
              <a:t>canary-psi.vercel.app/scan</a:t>
            </a:r>
            <a:endParaRPr lang="en-US" sz="1200" dirty="0"/>
          </a:p>
        </p:txBody>
      </p:sp>
      <p:sp>
        <p:nvSpPr>
          <p:cNvPr id="13" name="Text 10"/>
          <p:cNvSpPr/>
          <p:nvPr/>
        </p:nvSpPr>
        <p:spPr>
          <a:xfrm>
            <a:off x="640080" y="626364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Code: </a:t>
            </a:r>
            <a:pPr indent="0" marL="0">
              <a:buNone/>
            </a:pPr>
            <a:r>
              <a:rPr lang="en-US" sz="1200" b="1" dirty="0">
                <a:solidFill>
                  <a:srgbClr val="3B82F6"/>
                </a:solidFill>
                <a:latin typeface="Calibri" pitchFamily="34" charset="0"/>
                <a:ea typeface="Calibri" pitchFamily="34" charset="-122"/>
                <a:cs typeface="Calibri" pitchFamily="34" charset="-120"/>
              </a:rPr>
              <a:t>github.com/ArseniiChan/canary</a:t>
            </a:r>
            <a:pPr indent="0" marL="0">
              <a:buNone/>
            </a:pPr>
            <a:r>
              <a:rPr lang="en-US" sz="1200" dirty="0">
                <a:solidFill>
                  <a:srgbClr val="CFD8E8"/>
                </a:solidFill>
                <a:latin typeface="Calibri" pitchFamily="34" charset="0"/>
                <a:ea typeface="Calibri" pitchFamily="34" charset="-122"/>
                <a:cs typeface="Calibri" pitchFamily="34" charset="-120"/>
              </a:rPr>
              <a:t>    ·    Tag: </a:t>
            </a:r>
            <a:pPr indent="0" marL="0">
              <a:buNone/>
            </a:pPr>
            <a:r>
              <a:rPr lang="en-US" sz="1200" b="1" dirty="0">
                <a:solidFill>
                  <a:srgbClr val="3B82F6"/>
                </a:solidFill>
                <a:latin typeface="Calibri" pitchFamily="34" charset="0"/>
                <a:ea typeface="Calibri" pitchFamily="34" charset="-122"/>
                <a:cs typeface="Calibri" pitchFamily="34" charset="-120"/>
              </a:rPr>
              <a:t>validation-spec-frozen</a:t>
            </a:r>
            <a:endParaRPr lang="en-US" sz="1200" dirty="0"/>
          </a:p>
        </p:txBody>
      </p:sp>
      <p:sp>
        <p:nvSpPr>
          <p:cNvPr id="14" name="Text 11"/>
          <p:cNvSpPr/>
          <p:nvPr/>
        </p:nvSpPr>
        <p:spPr>
          <a:xfrm>
            <a:off x="640080" y="6583680"/>
            <a:ext cx="10972800" cy="274320"/>
          </a:xfrm>
          <a:prstGeom prst="rect">
            <a:avLst/>
          </a:prstGeom>
          <a:noFill/>
          <a:ln/>
        </p:spPr>
        <p:txBody>
          <a:bodyPr wrap="square" rtlCol="0" anchor="ctr"/>
          <a:lstStyle/>
          <a:p>
            <a:pPr indent="0" marL="0">
              <a:buNone/>
            </a:pPr>
            <a:r>
              <a:rPr lang="en-US" sz="1400" i="1" dirty="0">
                <a:solidFill>
                  <a:srgbClr val="FFFFFF"/>
                </a:solidFill>
                <a:latin typeface="Georgia" pitchFamily="34" charset="0"/>
                <a:ea typeface="Georgia" pitchFamily="34" charset="-122"/>
                <a:cs typeface="Georgia" pitchFamily="34" charset="-120"/>
              </a:rPr>
              <a:t>Thanks.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2026-05-07T13:53:51Z</dcterms:created>
  <dcterms:modified xsi:type="dcterms:W3CDTF">2026-05-07T13:53:51Z</dcterms:modified>
</cp:coreProperties>
</file>