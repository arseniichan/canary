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simple. Do companies committing accounting fraud write their annual reports differently from honest companies? And can a machine learning model spot the difference? Six famous fraud cases. One test. Let me show you what came back."
(Pause. Click to slide 2.)
STAGE NOTES:
- Don't announce the conclusion. Don't say "honestly" or "negative result"; both pre-spoil the talk.
- Open with the question. The audience leans forward.
- The slide shows the first half of the question. You verbally complete it ("and can a model spot the difference"). Audience reads while you fill in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turned out to be misrepresenting its finances at the time it filed this report. The SEC or class-action lawsuits exposed them years later. Each cost investors over a billion dollars. I paired each fraud filing against companies in the same industry, same year, that were clean.
The model never sees the word 'fraud' during training. It just reads the long prose section of each annual report (where management explains the year in their own words) and learns what 'normal' looks like, industry by industry. Then it ranks the unusual filings against their peers.
[point at pull-quote] The formal question is on the slide. [point at the answer line] The plain-English answer is right below it. I'll spend the rest of the talk on the evidence."
(Click to slide 3.)
STAGE NOTES:
- Don't read the pull-quote out loud. It's the formal academic version. The audience reads while you point.
- Pointing is faster than reading.
- Don't say MD&amp;A out loud. The phrase "long prose section where management explains the year" replaces it.
- The context about the six companies being multi-billion-dollar frauds is critical. The audience needs to know these names matter before reaching slide 4. Don't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walk through the methodology. It's what makes the result mean anything.
Three rules I locked in BEFORE I ran the test. [point at columns]
One: the model never sees a fraud during training. For each fraud case, the model trains only on clean filings from OTHER cases. The fraud I'm testing is held out.
Two: the model never sees the future. Within that training set, only filings dated on or before the fraud's filing date are allowed. The model can't pick up language that came out AFTER the fraud was discovered.
Three: single pass, no tuning. The architecture, the hyperparameters, the test set: all of that was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Don't say "LOCO" or "MiniLM" aloud. The slide shows them; you say "leave-one-out" or "the embedding model" if you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I could test, one excluded. I'll come back to the excluded one.
[point at Lehman row] Only Lehman, the investment bank whose collapse triggered the 2008 financial crisis, lands in the top three within its peer group. Three out of thirteen. The statistical test is highly significant, but the effect size is small [point at warning glyph]. Both numbers matter. Reporting either one alone would be misleading. And as you'll see on the next slide, even on Lehman, a 1990s baseline beats my model.
[quick scan with hand] The other four (HealthSouth, Valeant, Tyco, WorldCom) all rank no better than random. The test actually goes in the OPPOSITE direction from what we'd want. Overall my hit rates are at or below random.
Now, Enron. [point at italicized row] Enron's filing date is April 2nd, 2001. Every other peer in every other case was dated later. Under the strict rule I locked in, there's no clean filing Enron could have trained on.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forward-pointer ("a 1990s baseline beats my model") is critical. If a listener tunes out during slide 5, they need to walk away with this on slide 4. Don't skip it.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I think actually matters.
After the test ran, I asked myself the question every machine-learning paper should answer and most don't. Would a method from before I was born produce the same result?
So I ran one. [point at chart] A simple word-counting method. The kind of thing you could have written in 1995 from a textbook. Same training data, same statistical tests, same pipeline shape. No neural network. No transformer.
[point at chart] On four of five cases, the 1995 method TIES the modern one. [point at Lehman bar] And on Lehman, the one case the modern method got, the 1995 method gets it BETTER. The statistical test is way more confident.
Let me say what I'm not saying, and then what I am saying.
I am NOT saying the modern method is broken, or that neural networks are useless for this kind of problem.
I AM saying that on these five cases, with the rules I locked in, the modern method did not beat a method I could have run in 1995.
If you take one thing from this talk, this is it. A sharp baseline isn't optional. A result that loses to a baseline isn't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training data, same compression. The 1995 baseline matches or beats the modern method on every case. The honest claim is that the modern method adds nothing here. Slide 5.
The baseline is post-hoc, isn't that HARKing? The pre-registered hypothesis was about the modern method, and I report that result unchanged. The 1995 baseline was added after seeing the null result, and I label it as post-hoc. The main result doesn't depend on the baseline.
Could the embedding model have memorized 'Lehman' or 'Repo 105'? I tested that. I replaced 93 of those words in Lehman's filing with a placeholder and re-scored. Lehman's rank held at 3 out of 13. So the model isn't just spotting the word 'Lehman.'"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LAND THE URLs CLEANLY. PAUSE ONE BEAT AFTER "THANKS."
SAY:
"Two takeaways and one next step.
What survived: pre-registration. The contract held. I didn't tweak the model, I didn't redefine 'clean,' I didn't backtrack on the Enron exclusion when the result got uncomfortable.
What failed: the modern method, beyond what the 1990s baseline already does. A result that loses to a baseline is not evidence for the neural model.
What I'd do differently: make sure every held-out fraud actually has training data under the rule, BEFORE freezing the spec. Enron was unevaluable under my own rule, and I didn't catch it until validation ran.
Next experiment: same model, same filings, but compare each company against ITSELF across years, instead of against industry peers. That's the next step this study couldn't run.
[point at footer] Try the pipeline at the link below. Paste any annual report and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3B82F6"/>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Do companies committing accounting fraud</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write their annual reports differently?</a:t>
            </a:r>
            <a:endParaRPr lang="en-US" sz="3600" dirty="0"/>
          </a:p>
        </p:txBody>
      </p:sp>
      <p:sp>
        <p:nvSpPr>
          <p:cNvPr id="4" name="Shape 2"/>
          <p:cNvSpPr/>
          <p:nvPr/>
        </p:nvSpPr>
        <p:spPr>
          <a:xfrm>
            <a:off x="640080" y="3108960"/>
            <a:ext cx="1097280" cy="45720"/>
          </a:xfrm>
          <a:prstGeom prst="rect">
            <a:avLst/>
          </a:prstGeom>
          <a:solidFill>
            <a:srgbClr val="3B82F6"/>
          </a:solidFill>
          <a:ln w="12700">
            <a:solidFill>
              <a:srgbClr val="3B82F6"/>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fraud case (each tested against industry peers).</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MiniLM, a pretrained sentence encoder. Used as-is, no fine-tuning.</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3B82F6"/>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If an autoencoder trains only on clean annual reports from the same industry and year, will it rank known fraud filings as more unusual than its peers?</a:t>
            </a:r>
            <a:endParaRPr lang="en-US" sz="2600" dirty="0"/>
          </a:p>
        </p:txBody>
      </p:sp>
      <p:sp>
        <p:nvSpPr>
          <p:cNvPr id="6" name="Shape 4"/>
          <p:cNvSpPr/>
          <p:nvPr/>
        </p:nvSpPr>
        <p:spPr>
          <a:xfrm>
            <a:off x="640080" y="4114800"/>
            <a:ext cx="1097280" cy="36576"/>
          </a:xfrm>
          <a:prstGeom prst="rect">
            <a:avLst/>
          </a:prstGeom>
          <a:solidFill>
            <a:srgbClr val="3B82F6"/>
          </a:solidFill>
          <a:ln w="12700">
            <a:solidFill>
              <a:srgbClr val="3B82F6"/>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in four of five test cases; Enron couldn't be evaluated under the frozen rule; the one case the autoencoder did rank highly (Lehman) is n = 1, and a 1990s TF-IDF baseline beats the autoencoder there.</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3B82F6"/>
          </a:solidFill>
          <a:ln w="12700">
            <a:solidFill>
              <a:srgbClr val="3B82F6"/>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3B82F6"/>
          </a:solidFill>
          <a:ln w="12700">
            <a:solidFill>
              <a:srgbClr val="3B82F6"/>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(The MiniLM encoder isn't time-controlled.)</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3B82F6"/>
          </a:solidFill>
          <a:ln w="12700">
            <a:solidFill>
              <a:srgbClr val="3B82F6"/>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Whatever the test produces, the contract makes the result interpretable.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200" b="1" dirty="0">
                <a:solidFill>
                  <a:srgbClr val="141519"/>
                </a:solidFill>
                <a:latin typeface="Georgia" pitchFamily="34" charset="0"/>
                <a:ea typeface="Georgia" pitchFamily="34" charset="-122"/>
                <a:cs typeface="Georgia" pitchFamily="34" charset="-120"/>
              </a:rPr>
              <a:t>Only Lehman ranks better than random expectation; even there, a 1990s baseline beats the autoencoder.</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beats the autoencoder there too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3B82F6"/>
          </a:solidFill>
          <a:ln w="12700">
            <a:solidFill>
              <a:srgbClr val="3B82F6"/>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3B82F6"/>
          </a:solidFill>
          <a:ln w="12700">
            <a:solidFill>
              <a:srgbClr val="3B82F6"/>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3B82F6"/>
          </a:solidFill>
          <a:ln w="12700">
            <a:solidFill>
              <a:srgbClr val="3B82F6"/>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3B82F6"/>
          </a:solidFill>
          <a:ln w="12700">
            <a:solidFill>
              <a:srgbClr val="3B82F6"/>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834640"/>
            <a:ext cx="9601200" cy="640080"/>
          </a:xfrm>
          <a:prstGeom prst="rect">
            <a:avLst/>
          </a:prstGeom>
          <a:noFill/>
          <a:ln/>
        </p:spPr>
        <p:txBody>
          <a:bodyPr wrap="square" rtlCol="0" anchor="ctr"/>
          <a:lstStyle/>
          <a:p>
            <a:pPr indent="0" marL="0">
              <a:lnSpc>
                <a:spcPct val="130000"/>
              </a:lnSpc>
              <a:buNone/>
            </a:pPr>
            <a:r>
              <a:rPr lang="en-US" sz="14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400" dirty="0"/>
          </a:p>
        </p:txBody>
      </p:sp>
      <p:sp>
        <p:nvSpPr>
          <p:cNvPr id="7" name="Text 5"/>
          <p:cNvSpPr/>
          <p:nvPr/>
        </p:nvSpPr>
        <p:spPr>
          <a:xfrm>
            <a:off x="640080" y="3657600"/>
            <a:ext cx="9601200" cy="274320"/>
          </a:xfrm>
          <a:prstGeom prst="rect">
            <a:avLst/>
          </a:prstGeom>
          <a:noFill/>
          <a:ln/>
        </p:spPr>
        <p:txBody>
          <a:bodyPr wrap="square" rtlCol="0" anchor="ctr"/>
          <a:lstStyle/>
          <a:p>
            <a:pPr indent="0" marL="0">
              <a:buNone/>
            </a:pPr>
            <a:r>
              <a:rPr lang="en-US" sz="1100" b="1" spc="400" kern="0" dirty="0">
                <a:solidFill>
                  <a:srgbClr val="3B82F6"/>
                </a:solidFill>
                <a:latin typeface="Calibri" pitchFamily="34" charset="0"/>
                <a:ea typeface="Calibri" pitchFamily="34" charset="-122"/>
                <a:cs typeface="Calibri" pitchFamily="34" charset="-120"/>
              </a:rPr>
              <a:t>What I'd do differently</a:t>
            </a:r>
            <a:endParaRPr lang="en-US" sz="1100" dirty="0"/>
          </a:p>
        </p:txBody>
      </p:sp>
      <p:sp>
        <p:nvSpPr>
          <p:cNvPr id="8" name="Shape 6"/>
          <p:cNvSpPr/>
          <p:nvPr/>
        </p:nvSpPr>
        <p:spPr>
          <a:xfrm>
            <a:off x="640080" y="3977640"/>
            <a:ext cx="365760" cy="36576"/>
          </a:xfrm>
          <a:prstGeom prst="rect">
            <a:avLst/>
          </a:prstGeom>
          <a:solidFill>
            <a:srgbClr val="3B82F6"/>
          </a:solidFill>
          <a:ln w="12700">
            <a:solidFill>
              <a:srgbClr val="3B82F6"/>
            </a:solidFill>
            <a:prstDash val="solid"/>
          </a:ln>
        </p:spPr>
      </p:sp>
      <p:sp>
        <p:nvSpPr>
          <p:cNvPr id="9" name="Text 7"/>
          <p:cNvSpPr/>
          <p:nvPr/>
        </p:nvSpPr>
        <p:spPr>
          <a:xfrm>
            <a:off x="640080" y="4114800"/>
            <a:ext cx="9601200" cy="548640"/>
          </a:xfrm>
          <a:prstGeom prst="rect">
            <a:avLst/>
          </a:prstGeom>
          <a:noFill/>
          <a:ln/>
        </p:spPr>
        <p:txBody>
          <a:bodyPr wrap="square" rtlCol="0" anchor="ctr"/>
          <a:lstStyle/>
          <a:p>
            <a:pPr indent="0" marL="0">
              <a:lnSpc>
                <a:spcPct val="130000"/>
              </a:lnSpc>
              <a:buNone/>
            </a:pPr>
            <a:r>
              <a:rPr lang="en-US" sz="1300" dirty="0">
                <a:solidFill>
                  <a:srgbClr val="FFFFFF"/>
                </a:solidFill>
                <a:latin typeface="Georgia" pitchFamily="34" charset="0"/>
                <a:ea typeface="Georgia" pitchFamily="34" charset="-122"/>
                <a:cs typeface="Georgia" pitchFamily="34" charset="-120"/>
              </a:rPr>
              <a:t>Confirm every held-out fraud is evaluable under the pre-registered rule BEFORE freezing the spec. Enron taught that the hard way.</a:t>
            </a:r>
            <a:endParaRPr lang="en-US" sz="1300" dirty="0"/>
          </a:p>
        </p:txBody>
      </p:sp>
      <p:sp>
        <p:nvSpPr>
          <p:cNvPr id="10" name="Text 8"/>
          <p:cNvSpPr/>
          <p:nvPr/>
        </p:nvSpPr>
        <p:spPr>
          <a:xfrm>
            <a:off x="640080" y="4800600"/>
            <a:ext cx="9601200" cy="274320"/>
          </a:xfrm>
          <a:prstGeom prst="rect">
            <a:avLst/>
          </a:prstGeom>
          <a:noFill/>
          <a:ln/>
        </p:spPr>
        <p:txBody>
          <a:bodyPr wrap="square" rtlCol="0" anchor="ctr"/>
          <a:lstStyle/>
          <a:p>
            <a:pPr indent="0" marL="0">
              <a:buNone/>
            </a:pPr>
            <a:r>
              <a:rPr lang="en-US" sz="1100" b="1" spc="400" kern="0" dirty="0">
                <a:solidFill>
                  <a:srgbClr val="3B82F6"/>
                </a:solidFill>
                <a:latin typeface="Calibri" pitchFamily="34" charset="0"/>
                <a:ea typeface="Calibri" pitchFamily="34" charset="-122"/>
                <a:cs typeface="Calibri" pitchFamily="34" charset="-120"/>
              </a:rPr>
              <a:t>Next experiment</a:t>
            </a:r>
            <a:endParaRPr lang="en-US" sz="1100" dirty="0"/>
          </a:p>
        </p:txBody>
      </p:sp>
      <p:sp>
        <p:nvSpPr>
          <p:cNvPr id="11" name="Shape 9"/>
          <p:cNvSpPr/>
          <p:nvPr/>
        </p:nvSpPr>
        <p:spPr>
          <a:xfrm>
            <a:off x="640080" y="5120640"/>
            <a:ext cx="365760" cy="36576"/>
          </a:xfrm>
          <a:prstGeom prst="rect">
            <a:avLst/>
          </a:prstGeom>
          <a:solidFill>
            <a:srgbClr val="3B82F6"/>
          </a:solidFill>
          <a:ln w="12700">
            <a:solidFill>
              <a:srgbClr val="3B82F6"/>
            </a:solidFill>
            <a:prstDash val="solid"/>
          </a:ln>
        </p:spPr>
      </p:sp>
      <p:sp>
        <p:nvSpPr>
          <p:cNvPr id="12" name="Text 10"/>
          <p:cNvSpPr/>
          <p:nvPr/>
        </p:nvSpPr>
        <p:spPr>
          <a:xfrm>
            <a:off x="640080" y="5257800"/>
            <a:ext cx="9601200" cy="502920"/>
          </a:xfrm>
          <a:prstGeom prst="rect">
            <a:avLst/>
          </a:prstGeom>
          <a:noFill/>
          <a:ln/>
        </p:spPr>
        <p:txBody>
          <a:bodyPr wrap="square" rtlCol="0" anchor="ctr"/>
          <a:lstStyle/>
          <a:p>
            <a:pPr indent="0" marL="0">
              <a:lnSpc>
                <a:spcPct val="130000"/>
              </a:lnSpc>
              <a:buNone/>
            </a:pPr>
            <a:r>
              <a:rPr lang="en-US" sz="1300" dirty="0">
                <a:solidFill>
                  <a:srgbClr val="FFFFFF"/>
                </a:solidFill>
                <a:latin typeface="Georgia" pitchFamily="34" charset="0"/>
                <a:ea typeface="Georgia" pitchFamily="34" charset="-122"/>
                <a:cs typeface="Georgia" pitchFamily="34" charset="-120"/>
              </a:rPr>
              <a:t>Same autoencoder, but compare each company against its own past filings (not industry peers). Does Lehman's MD&amp;A look anomalous against Lehman's own prior-year MD&amp;A?</a:t>
            </a:r>
            <a:endParaRPr lang="en-US" sz="1300" dirty="0"/>
          </a:p>
        </p:txBody>
      </p:sp>
      <p:sp>
        <p:nvSpPr>
          <p:cNvPr id="13" name="Text 11"/>
          <p:cNvSpPr/>
          <p:nvPr/>
        </p:nvSpPr>
        <p:spPr>
          <a:xfrm>
            <a:off x="10058400" y="3520440"/>
            <a:ext cx="1828800" cy="22860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4" name="Image 0" descr="/Users/arseniichan/Documents/Claude/Projects/CSC448/canary/reports/figures/qr_demo.png">    </p:cNvPr>
          <p:cNvPicPr>
            <a:picLocks noChangeAspect="1"/>
          </p:cNvPicPr>
          <p:nvPr/>
        </p:nvPicPr>
        <p:blipFill>
          <a:blip r:embed="rId1"/>
          <a:stretch>
            <a:fillRect/>
          </a:stretch>
        </p:blipFill>
        <p:spPr>
          <a:xfrm>
            <a:off x="10332720" y="3794760"/>
            <a:ext cx="1280160" cy="1280160"/>
          </a:xfrm>
          <a:prstGeom prst="rect">
            <a:avLst/>
          </a:prstGeom>
        </p:spPr>
      </p:pic>
      <p:sp>
        <p:nvSpPr>
          <p:cNvPr id="15" name="Text 12"/>
          <p:cNvSpPr/>
          <p:nvPr/>
        </p:nvSpPr>
        <p:spPr>
          <a:xfrm>
            <a:off x="640080" y="5989320"/>
            <a:ext cx="10972800" cy="228600"/>
          </a:xfrm>
          <a:prstGeom prst="rect">
            <a:avLst/>
          </a:prstGeom>
          <a:noFill/>
          <a:ln/>
        </p:spPr>
        <p:txBody>
          <a:bodyPr wrap="square" rtlCol="0" anchor="ctr"/>
          <a:lstStyle/>
          <a:p>
            <a:pPr indent="0" marL="0">
              <a:buNone/>
            </a:pPr>
            <a:r>
              <a:rPr lang="en-US" sz="11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100" b="1" dirty="0">
                <a:solidFill>
                  <a:srgbClr val="3B82F6"/>
                </a:solidFill>
                <a:latin typeface="Calibri" pitchFamily="34" charset="0"/>
                <a:ea typeface="Calibri" pitchFamily="34" charset="-122"/>
                <a:cs typeface="Calibri" pitchFamily="34" charset="-120"/>
              </a:rPr>
              <a:t>canary-psi.vercel.app/scan</a:t>
            </a:r>
            <a:endParaRPr lang="en-US" sz="1100" dirty="0"/>
          </a:p>
        </p:txBody>
      </p:sp>
      <p:sp>
        <p:nvSpPr>
          <p:cNvPr id="16" name="Text 13"/>
          <p:cNvSpPr/>
          <p:nvPr/>
        </p:nvSpPr>
        <p:spPr>
          <a:xfrm>
            <a:off x="640080" y="6263640"/>
            <a:ext cx="10972800" cy="228600"/>
          </a:xfrm>
          <a:prstGeom prst="rect">
            <a:avLst/>
          </a:prstGeom>
          <a:noFill/>
          <a:ln/>
        </p:spPr>
        <p:txBody>
          <a:bodyPr wrap="square" rtlCol="0" anchor="ctr"/>
          <a:lstStyle/>
          <a:p>
            <a:pPr indent="0" marL="0">
              <a:buNone/>
            </a:pPr>
            <a:r>
              <a:rPr lang="en-US" sz="1100" dirty="0">
                <a:solidFill>
                  <a:srgbClr val="CFD8E8"/>
                </a:solidFill>
                <a:latin typeface="Calibri" pitchFamily="34" charset="0"/>
                <a:ea typeface="Calibri" pitchFamily="34" charset="-122"/>
                <a:cs typeface="Calibri" pitchFamily="34" charset="-120"/>
              </a:rPr>
              <a:t>Code: </a:t>
            </a:r>
            <a:pPr indent="0" marL="0">
              <a:buNone/>
            </a:pPr>
            <a:r>
              <a:rPr lang="en-US" sz="1100" b="1" dirty="0">
                <a:solidFill>
                  <a:srgbClr val="3B82F6"/>
                </a:solidFill>
                <a:latin typeface="Calibri" pitchFamily="34" charset="0"/>
                <a:ea typeface="Calibri" pitchFamily="34" charset="-122"/>
                <a:cs typeface="Calibri" pitchFamily="34" charset="-120"/>
              </a:rPr>
              <a:t>github.com/ArseniiChan/canary</a:t>
            </a:r>
            <a:pPr indent="0" marL="0">
              <a:buNone/>
            </a:pPr>
            <a:r>
              <a:rPr lang="en-US" sz="1100" dirty="0">
                <a:solidFill>
                  <a:srgbClr val="CFD8E8"/>
                </a:solidFill>
                <a:latin typeface="Calibri" pitchFamily="34" charset="0"/>
                <a:ea typeface="Calibri" pitchFamily="34" charset="-122"/>
                <a:cs typeface="Calibri" pitchFamily="34" charset="-120"/>
              </a:rPr>
              <a:t>    ·    Tag: </a:t>
            </a:r>
            <a:pPr indent="0" marL="0">
              <a:buNone/>
            </a:pPr>
            <a:r>
              <a:rPr lang="en-US" sz="1100" b="1" dirty="0">
                <a:solidFill>
                  <a:srgbClr val="3B82F6"/>
                </a:solidFill>
                <a:latin typeface="Calibri" pitchFamily="34" charset="0"/>
                <a:ea typeface="Calibri" pitchFamily="34" charset="-122"/>
                <a:cs typeface="Calibri" pitchFamily="34" charset="-120"/>
              </a:rPr>
              <a:t>validation-spec-frozen</a:t>
            </a:r>
            <a:endParaRPr lang="en-US" sz="1100" dirty="0"/>
          </a:p>
        </p:txBody>
      </p:sp>
      <p:sp>
        <p:nvSpPr>
          <p:cNvPr id="17" name="Text 14"/>
          <p:cNvSpPr/>
          <p:nvPr/>
        </p:nvSpPr>
        <p:spPr>
          <a:xfrm>
            <a:off x="640080" y="6583680"/>
            <a:ext cx="10972800" cy="228600"/>
          </a:xfrm>
          <a:prstGeom prst="rect">
            <a:avLst/>
          </a:prstGeom>
          <a:noFill/>
          <a:ln/>
        </p:spPr>
        <p:txBody>
          <a:bodyPr wrap="square" rtlCol="0" anchor="ctr"/>
          <a:lstStyle/>
          <a:p>
            <a:pPr indent="0" marL="0">
              <a:buNone/>
            </a:pPr>
            <a:r>
              <a:rPr lang="en-US" sz="1300" i="1" dirty="0">
                <a:solidFill>
                  <a:srgbClr val="FFFFFF"/>
                </a:solidFill>
                <a:latin typeface="Georgia" pitchFamily="34" charset="0"/>
                <a:ea typeface="Georgia" pitchFamily="34" charset="-122"/>
                <a:cs typeface="Georgia" pitchFamily="34" charset="-120"/>
              </a:rPr>
              <a:t>Thanks.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2026-05-07T14:19:21Z</dcterms:created>
  <dcterms:modified xsi:type="dcterms:W3CDTF">2026-05-07T14:19:21Z</dcterms:modified>
</cp:coreProperties>
</file>