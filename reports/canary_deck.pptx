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ranks the ones that look most unusual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lands in the top three within its peer group. Three out of thirteen. The statistical test is highly significant, BUT the effect size is small [point at warning glyph]. Both numbers matter; reporting either one alone is misleading.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1280160"/>
            <a:ext cx="10972800" cy="548640"/>
          </a:xfrm>
          <a:prstGeom prst="rect">
            <a:avLst/>
          </a:prstGeom>
          <a:noFill/>
          <a:ln/>
        </p:spPr>
        <p:txBody>
          <a:bodyPr wrap="square" rtlCol="0" anchor="ctr"/>
          <a:lstStyle/>
          <a:p>
            <a:pPr indent="0" marL="0">
              <a:buNone/>
            </a:pPr>
            <a:r>
              <a:rPr lang="en-US" sz="1400" b="1" spc="1200" kern="0" dirty="0">
                <a:solidFill>
                  <a:srgbClr val="D4A017"/>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920240"/>
            <a:ext cx="10972800" cy="192024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Can a computer reading the words in a 10-K</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rank known fraud filings as anomalous?</a:t>
            </a:r>
            <a:endParaRPr lang="en-US" sz="3600" dirty="0"/>
          </a:p>
        </p:txBody>
      </p:sp>
      <p:sp>
        <p:nvSpPr>
          <p:cNvPr id="4" name="Shape 2"/>
          <p:cNvSpPr/>
          <p:nvPr/>
        </p:nvSpPr>
        <p:spPr>
          <a:xfrm>
            <a:off x="640080" y="4114800"/>
            <a:ext cx="1097280" cy="45720"/>
          </a:xfrm>
          <a:prstGeom prst="rect">
            <a:avLst/>
          </a:prstGeom>
          <a:solidFill>
            <a:srgbClr val="D4A017"/>
          </a:solidFill>
          <a:ln w="12700">
            <a:solidFill>
              <a:srgbClr val="D4A017"/>
            </a:solidFill>
            <a:prstDash val="solid"/>
          </a:ln>
        </p:spPr>
      </p:sp>
      <p:sp>
        <p:nvSpPr>
          <p:cNvPr id="5" name="Text 3"/>
          <p:cNvSpPr/>
          <p:nvPr/>
        </p:nvSpPr>
        <p:spPr>
          <a:xfrm>
            <a:off x="640080" y="4297680"/>
            <a:ext cx="10972800" cy="457200"/>
          </a:xfrm>
          <a:prstGeom prst="rect">
            <a:avLst/>
          </a:prstGeom>
          <a:noFill/>
          <a:ln/>
        </p:spPr>
        <p:txBody>
          <a:bodyPr wrap="square" rtlCol="0" anchor="ctr"/>
          <a:lstStyle/>
          <a:p>
            <a:pPr indent="0" marL="0">
              <a:buNone/>
            </a:pPr>
            <a:r>
              <a:rPr lang="en-US" sz="1800" i="1" dirty="0">
                <a:solidFill>
                  <a:srgbClr val="CFD8E8"/>
                </a:solidFill>
                <a:latin typeface="Georgia" pitchFamily="34" charset="0"/>
                <a:ea typeface="Georgia" pitchFamily="34" charset="-122"/>
                <a:cs typeface="Georgia" pitchFamily="34" charset="-120"/>
              </a:rPr>
              <a:t>A pre-registered single-signal novelty study on SEC 10-K MD&amp;A text.</a:t>
            </a:r>
            <a:endParaRPr lang="en-US" sz="1800" dirty="0"/>
          </a:p>
        </p:txBody>
      </p:sp>
      <p:sp>
        <p:nvSpPr>
          <p:cNvPr id="6" name="Text 4"/>
          <p:cNvSpPr/>
          <p:nvPr/>
        </p:nvSpPr>
        <p:spPr>
          <a:xfrm>
            <a:off x="640080" y="4800600"/>
            <a:ext cx="10972800" cy="640080"/>
          </a:xfrm>
          <a:prstGeom prst="rect">
            <a:avLst/>
          </a:prstGeom>
          <a:noFill/>
          <a:ln/>
        </p:spPr>
        <p:txBody>
          <a:bodyPr wrap="square" rtlCol="0" anchor="ctr"/>
          <a:lstStyle/>
          <a:p>
            <a:pPr indent="0" marL="0">
              <a:lnSpc>
                <a:spcPct val="125000"/>
              </a:lnSpc>
              <a:buNone/>
            </a:pPr>
            <a:r>
              <a:rPr lang="en-US" sz="1400" i="1" dirty="0">
                <a:solidFill>
                  <a:srgbClr val="D4A017"/>
                </a:solidFill>
                <a:latin typeface="Georgia" pitchFamily="34" charset="0"/>
                <a:ea typeface="Georgia" pitchFamily="34" charset="-122"/>
                <a:cs typeface="Georgia" pitchFamily="34" charset="-120"/>
              </a:rPr>
              <a:t>Primary contribution: a pre-registered null result plus a baseline that beat the autoencoder.</a:t>
            </a:r>
            <a:endParaRPr lang="en-US" sz="1400" dirty="0"/>
          </a:p>
        </p:txBody>
      </p:sp>
      <p:sp>
        <p:nvSpPr>
          <p:cNvPr id="7" name="Text 5"/>
          <p:cNvSpPr/>
          <p:nvPr/>
        </p:nvSpPr>
        <p:spPr>
          <a:xfrm>
            <a:off x="640080" y="5760720"/>
            <a:ext cx="109728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D4A017"/>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0E1A33"/>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D4A017"/>
          </a:solidFill>
          <a:ln w="12700">
            <a:solidFill>
              <a:srgbClr val="D4A017"/>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that ranks high (Lehman) is n = 1, and a 1990s TF-IDF baseline ranks it higher.</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0E1A33"/>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D4A017"/>
          </a:solidFill>
          <a:ln w="12700">
            <a:solidFill>
              <a:srgbClr val="D4A017"/>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D4A017"/>
          </a:solidFill>
          <a:ln w="12700">
            <a:solidFill>
              <a:srgbClr val="D4A017"/>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D4A017"/>
          </a:solidFill>
          <a:ln w="12700">
            <a:solidFill>
              <a:srgbClr val="D4A017"/>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Only Lehman ranks above random expectation; the aggregate still loses to random.</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r>
              <a:tr h="411480">
                <a:tc>
                  <a:txBody>
                    <a:bodyPr/>
                    <a:lstStyle/>
                    <a:p>
                      <a:pPr indent="0" marL="0">
                        <a:buNone/>
                      </a:pPr>
                      <a:r>
                        <a:rPr lang="en-US" sz="1300" b="1" dirty="0">
                          <a:solidFill>
                            <a:srgbClr val="0E1A33"/>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0E1A33"/>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ranks it higher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Lehman: AE rank 3/13, TF-IDF rank 1/13. Aggregate hit@5 is 0.40 (TF-IDF) vs 0.20 (autoencoder). Mann-Whitney p is much smaller for TF-IDF on Lehman; exact values are in the report.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D4A017"/>
          </a:solidFill>
          <a:ln w="12700">
            <a:solidFill>
              <a:srgbClr val="D4A017"/>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D4A017"/>
          </a:solidFill>
          <a:ln w="12700">
            <a:solidFill>
              <a:srgbClr val="D4A017"/>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D4A017"/>
          </a:solidFill>
          <a:ln w="12700">
            <a:solidFill>
              <a:srgbClr val="D4A017"/>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D4A017"/>
          </a:solidFill>
          <a:ln w="12700">
            <a:solidFill>
              <a:srgbClr val="D4A017"/>
            </a:solidFill>
            <a:prstDash val="solid"/>
          </a:ln>
        </p:spPr>
      </p:sp>
      <p:sp>
        <p:nvSpPr>
          <p:cNvPr id="4" name="Text 2"/>
          <p:cNvSpPr/>
          <p:nvPr/>
        </p:nvSpPr>
        <p:spPr>
          <a:xfrm>
            <a:off x="640080" y="12801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survived: pre-registration.</a:t>
            </a:r>
            <a:endParaRPr lang="en-US" sz="3200" dirty="0"/>
          </a:p>
        </p:txBody>
      </p:sp>
      <p:sp>
        <p:nvSpPr>
          <p:cNvPr id="5" name="Text 3"/>
          <p:cNvSpPr/>
          <p:nvPr/>
        </p:nvSpPr>
        <p:spPr>
          <a:xfrm>
            <a:off x="640080" y="19659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failed: the autoencoder beyond the TF-IDF baseline.</a:t>
            </a:r>
            <a:endParaRPr lang="en-US" sz="3200" dirty="0"/>
          </a:p>
        </p:txBody>
      </p:sp>
      <p:sp>
        <p:nvSpPr>
          <p:cNvPr id="6" name="Text 4"/>
          <p:cNvSpPr/>
          <p:nvPr/>
        </p:nvSpPr>
        <p:spPr>
          <a:xfrm>
            <a:off x="640080" y="2926080"/>
            <a:ext cx="10972800" cy="822960"/>
          </a:xfrm>
          <a:prstGeom prst="rect">
            <a:avLst/>
          </a:prstGeom>
          <a:noFill/>
          <a:ln/>
        </p:spPr>
        <p:txBody>
          <a:bodyPr wrap="square" rtlCol="0" anchor="ctr"/>
          <a:lstStyle/>
          <a:p>
            <a:pPr indent="0" marL="0">
              <a:lnSpc>
                <a:spcPct val="130000"/>
              </a:lnSpc>
              <a:buNone/>
            </a:pPr>
            <a:r>
              <a:rPr lang="en-US" sz="16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600" dirty="0"/>
          </a:p>
        </p:txBody>
      </p:sp>
      <p:sp>
        <p:nvSpPr>
          <p:cNvPr id="7" name="Text 5"/>
          <p:cNvSpPr/>
          <p:nvPr/>
        </p:nvSpPr>
        <p:spPr>
          <a:xfrm>
            <a:off x="640080" y="402336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D4A017"/>
          </a:solidFill>
          <a:ln w="12700">
            <a:solidFill>
              <a:srgbClr val="D4A017"/>
            </a:solidFill>
            <a:prstDash val="solid"/>
          </a:ln>
        </p:spPr>
      </p:sp>
      <p:sp>
        <p:nvSpPr>
          <p:cNvPr id="9" name="Text 7"/>
          <p:cNvSpPr/>
          <p:nvPr/>
        </p:nvSpPr>
        <p:spPr>
          <a:xfrm>
            <a:off x="640080" y="4572000"/>
            <a:ext cx="10972800" cy="822960"/>
          </a:xfrm>
          <a:prstGeom prst="rect">
            <a:avLst/>
          </a:prstGeom>
          <a:noFill/>
          <a:ln/>
        </p:spPr>
        <p:txBody>
          <a:bodyPr wrap="square" rtlCol="0" anchor="ctr"/>
          <a:lstStyle/>
          <a:p>
            <a:pPr indent="0" marL="0">
              <a:lnSpc>
                <a:spcPct val="130000"/>
              </a:lnSpc>
              <a:buNone/>
            </a:pPr>
            <a:r>
              <a:rPr lang="en-US" sz="16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600" dirty="0"/>
          </a:p>
        </p:txBody>
      </p:sp>
      <p:sp>
        <p:nvSpPr>
          <p:cNvPr id="10" name="Text 8"/>
          <p:cNvSpPr/>
          <p:nvPr/>
        </p:nvSpPr>
        <p:spPr>
          <a:xfrm>
            <a:off x="640080" y="5943600"/>
            <a:ext cx="10972800" cy="36576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D4A017"/>
                </a:solidFill>
                <a:latin typeface="Calibri" pitchFamily="34" charset="0"/>
                <a:ea typeface="Calibri" pitchFamily="34" charset="-122"/>
                <a:cs typeface="Calibri" pitchFamily="34" charset="-120"/>
              </a:rPr>
              <a:t>canary-psi.vercel.app/scan</a:t>
            </a:r>
            <a:pPr indent="0" marL="0">
              <a:buNone/>
            </a:pPr>
            <a:r>
              <a:rPr lang="en-US" sz="1200" dirty="0">
                <a:solidFill>
                  <a:srgbClr val="CFD8E8"/>
                </a:solidFill>
                <a:latin typeface="Calibri" pitchFamily="34" charset="0"/>
                <a:ea typeface="Calibri" pitchFamily="34" charset="-122"/>
                <a:cs typeface="Calibri" pitchFamily="34" charset="-120"/>
              </a:rPr>
              <a:t>    ·    Code:  </a:t>
            </a:r>
            <a:pPr indent="0" marL="0">
              <a:buNone/>
            </a:pPr>
            <a:r>
              <a:rPr lang="en-US" sz="1200" b="1" dirty="0">
                <a:solidFill>
                  <a:srgbClr val="D4A017"/>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D4A017"/>
                </a:solidFill>
                <a:latin typeface="Calibri" pitchFamily="34" charset="0"/>
                <a:ea typeface="Calibri" pitchFamily="34" charset="-122"/>
                <a:cs typeface="Calibri" pitchFamily="34" charset="-120"/>
              </a:rPr>
              <a:t>validation-spec-frozen</a:t>
            </a:r>
            <a:endParaRPr lang="en-US" sz="1200" dirty="0"/>
          </a:p>
        </p:txBody>
      </p:sp>
      <p:sp>
        <p:nvSpPr>
          <p:cNvPr id="11" name="Text 9"/>
          <p:cNvSpPr/>
          <p:nvPr/>
        </p:nvSpPr>
        <p:spPr>
          <a:xfrm>
            <a:off x="640080" y="6309360"/>
            <a:ext cx="10972800" cy="365760"/>
          </a:xfrm>
          <a:prstGeom prst="rect">
            <a:avLst/>
          </a:prstGeom>
          <a:noFill/>
          <a:ln/>
        </p:spPr>
        <p:txBody>
          <a:bodyPr wrap="square"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Thanks.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2026-05-04T01:43:38Z</dcterms:created>
  <dcterms:modified xsi:type="dcterms:W3CDTF">2026-05-04T01:43:38Z</dcterms:modified>
</cp:coreProperties>
</file>