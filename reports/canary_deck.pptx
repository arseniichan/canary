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do companies that turn out to have been committing accounting fraud write their annual reports differently from honest companies, and can a machine learning model detect that difference?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
- The slide shows just the first half of the question ("do they write differently"). You verbally complete it ("and can a model detect that"). The audience reads the slide while you fill in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was later proven to have been misrepresenting its financial condition at the time of this filing. The SEC or class-action lawsuits exposed them years afterward; each cost investors over a billion dollars. I paired each fraud filing against companies in the same industry, same year, that turned out to be clean.
The model never sees the word 'fraud' during training. It just reads the long English-prose section of each annual report, where management explains the year in their own words, and learns what a 'normal' filing looks like industry by industry. Then it ranks the unusual filings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
- The "long English-prose section where management explains the year" is the plain-English explanation of MD&amp;A. Don't say "MD&amp;A" out loud unless someone asks — the slide pull-quote shows the formal name for the technical reader.
- The context line about each cohort being a multi-billion-dollar fraud is critical for audience comprehension. By the time they reach slide 4 they need to know these names matter. Don't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 the investment bank whose collapse triggered the 2008 financial crisis — lands in the top three within its peer group. Three out of thirteen. The statistical test is highly significant, BUT the effect size is small [point at warning glyph]. Both numbers matter; reporting either one alone is misleading. And as you'll see on the next slide, even on Lehman, a 1990s baseline beats my model.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line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What I'd do differently: confirm every held-out fraud is actually evaluable under the rule BEFORE freezing the spec. Enron was unevaluable under my own rule, and I didn't catch it until validation ran.
Next experiment: same model, same filings, but compare each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Do companies committing accounting fraud</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write their annual reports differently?</a:t>
            </a:r>
            <a:endParaRPr lang="en-US" sz="36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the autoencoder did rank highly (Lehman) is n = 1, and a 1990s TF-IDF baseline beats the autoencoder on it.</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Whatever the test produces, the contract makes the result interpretable.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834640"/>
            <a:ext cx="9601200" cy="640080"/>
          </a:xfrm>
          <a:prstGeom prst="rect">
            <a:avLst/>
          </a:prstGeom>
          <a:noFill/>
          <a:ln/>
        </p:spPr>
        <p:txBody>
          <a:bodyPr wrap="square" rtlCol="0" anchor="ctr"/>
          <a:lstStyle/>
          <a:p>
            <a:pPr indent="0" marL="0">
              <a:lnSpc>
                <a:spcPct val="130000"/>
              </a:lnSpc>
              <a:buNone/>
            </a:pPr>
            <a:r>
              <a:rPr lang="en-US" sz="14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400" dirty="0"/>
          </a:p>
        </p:txBody>
      </p:sp>
      <p:sp>
        <p:nvSpPr>
          <p:cNvPr id="7" name="Text 5"/>
          <p:cNvSpPr/>
          <p:nvPr/>
        </p:nvSpPr>
        <p:spPr>
          <a:xfrm>
            <a:off x="640080" y="3657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What I'd do differently</a:t>
            </a:r>
            <a:endParaRPr lang="en-US" sz="1100" dirty="0"/>
          </a:p>
        </p:txBody>
      </p:sp>
      <p:sp>
        <p:nvSpPr>
          <p:cNvPr id="8" name="Shape 6"/>
          <p:cNvSpPr/>
          <p:nvPr/>
        </p:nvSpPr>
        <p:spPr>
          <a:xfrm>
            <a:off x="640080" y="3977640"/>
            <a:ext cx="365760" cy="36576"/>
          </a:xfrm>
          <a:prstGeom prst="rect">
            <a:avLst/>
          </a:prstGeom>
          <a:solidFill>
            <a:srgbClr val="3B82F6"/>
          </a:solidFill>
          <a:ln w="12700">
            <a:solidFill>
              <a:srgbClr val="3B82F6"/>
            </a:solidFill>
            <a:prstDash val="solid"/>
          </a:ln>
        </p:spPr>
      </p:sp>
      <p:sp>
        <p:nvSpPr>
          <p:cNvPr id="9" name="Text 7"/>
          <p:cNvSpPr/>
          <p:nvPr/>
        </p:nvSpPr>
        <p:spPr>
          <a:xfrm>
            <a:off x="640080" y="4114800"/>
            <a:ext cx="9601200" cy="54864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Confirm every held-out fraud is evaluable under the pre-registered rule BEFORE freezing the spec. Enron taught that the hard way.</a:t>
            </a:r>
            <a:endParaRPr lang="en-US" sz="1300" dirty="0"/>
          </a:p>
        </p:txBody>
      </p:sp>
      <p:sp>
        <p:nvSpPr>
          <p:cNvPr id="10" name="Text 8"/>
          <p:cNvSpPr/>
          <p:nvPr/>
        </p:nvSpPr>
        <p:spPr>
          <a:xfrm>
            <a:off x="640080" y="4800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Next experiment</a:t>
            </a:r>
            <a:endParaRPr lang="en-US" sz="1100" dirty="0"/>
          </a:p>
        </p:txBody>
      </p:sp>
      <p:sp>
        <p:nvSpPr>
          <p:cNvPr id="11" name="Shape 9"/>
          <p:cNvSpPr/>
          <p:nvPr/>
        </p:nvSpPr>
        <p:spPr>
          <a:xfrm>
            <a:off x="640080" y="5120640"/>
            <a:ext cx="365760" cy="36576"/>
          </a:xfrm>
          <a:prstGeom prst="rect">
            <a:avLst/>
          </a:prstGeom>
          <a:solidFill>
            <a:srgbClr val="3B82F6"/>
          </a:solidFill>
          <a:ln w="12700">
            <a:solidFill>
              <a:srgbClr val="3B82F6"/>
            </a:solidFill>
            <a:prstDash val="solid"/>
          </a:ln>
        </p:spPr>
      </p:sp>
      <p:sp>
        <p:nvSpPr>
          <p:cNvPr id="12" name="Text 10"/>
          <p:cNvSpPr/>
          <p:nvPr/>
        </p:nvSpPr>
        <p:spPr>
          <a:xfrm>
            <a:off x="640080" y="5257800"/>
            <a:ext cx="9601200" cy="50292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300" dirty="0"/>
          </a:p>
        </p:txBody>
      </p:sp>
      <p:sp>
        <p:nvSpPr>
          <p:cNvPr id="13" name="Text 11"/>
          <p:cNvSpPr/>
          <p:nvPr/>
        </p:nvSpPr>
        <p:spPr>
          <a:xfrm>
            <a:off x="10058400" y="3520440"/>
            <a:ext cx="1828800" cy="22860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4" name="Image 0" descr="/Users/arseniichan/Documents/Claude/Projects/CSC448/canary/reports/figures/qr_demo.png">    </p:cNvPr>
          <p:cNvPicPr>
            <a:picLocks noChangeAspect="1"/>
          </p:cNvPicPr>
          <p:nvPr/>
        </p:nvPicPr>
        <p:blipFill>
          <a:blip r:embed="rId1"/>
          <a:stretch>
            <a:fillRect/>
          </a:stretch>
        </p:blipFill>
        <p:spPr>
          <a:xfrm>
            <a:off x="10332720" y="3794760"/>
            <a:ext cx="1280160" cy="1280160"/>
          </a:xfrm>
          <a:prstGeom prst="rect">
            <a:avLst/>
          </a:prstGeom>
        </p:spPr>
      </p:pic>
      <p:sp>
        <p:nvSpPr>
          <p:cNvPr id="15" name="Text 12"/>
          <p:cNvSpPr/>
          <p:nvPr/>
        </p:nvSpPr>
        <p:spPr>
          <a:xfrm>
            <a:off x="640080" y="598932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100" b="1" dirty="0">
                <a:solidFill>
                  <a:srgbClr val="3B82F6"/>
                </a:solidFill>
                <a:latin typeface="Calibri" pitchFamily="34" charset="0"/>
                <a:ea typeface="Calibri" pitchFamily="34" charset="-122"/>
                <a:cs typeface="Calibri" pitchFamily="34" charset="-120"/>
              </a:rPr>
              <a:t>canary-psi.vercel.app/scan</a:t>
            </a:r>
            <a:endParaRPr lang="en-US" sz="1100" dirty="0"/>
          </a:p>
        </p:txBody>
      </p:sp>
      <p:sp>
        <p:nvSpPr>
          <p:cNvPr id="16" name="Text 13"/>
          <p:cNvSpPr/>
          <p:nvPr/>
        </p:nvSpPr>
        <p:spPr>
          <a:xfrm>
            <a:off x="640080" y="626364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Code: </a:t>
            </a:r>
            <a:pPr indent="0" marL="0">
              <a:buNone/>
            </a:pPr>
            <a:r>
              <a:rPr lang="en-US" sz="11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100" dirty="0">
                <a:solidFill>
                  <a:srgbClr val="CFD8E8"/>
                </a:solidFill>
                <a:latin typeface="Calibri" pitchFamily="34" charset="0"/>
                <a:ea typeface="Calibri" pitchFamily="34" charset="-122"/>
                <a:cs typeface="Calibri" pitchFamily="34" charset="-120"/>
              </a:rPr>
              <a:t>    ·    Tag: </a:t>
            </a:r>
            <a:pPr indent="0" marL="0">
              <a:buNone/>
            </a:pPr>
            <a:r>
              <a:rPr lang="en-US" sz="1100" b="1" dirty="0">
                <a:solidFill>
                  <a:srgbClr val="3B82F6"/>
                </a:solidFill>
                <a:latin typeface="Calibri" pitchFamily="34" charset="0"/>
                <a:ea typeface="Calibri" pitchFamily="34" charset="-122"/>
                <a:cs typeface="Calibri" pitchFamily="34" charset="-120"/>
              </a:rPr>
              <a:t>validation-spec-frozen</a:t>
            </a:r>
            <a:endParaRPr lang="en-US" sz="1100" dirty="0"/>
          </a:p>
        </p:txBody>
      </p:sp>
      <p:sp>
        <p:nvSpPr>
          <p:cNvPr id="17" name="Text 14"/>
          <p:cNvSpPr/>
          <p:nvPr/>
        </p:nvSpPr>
        <p:spPr>
          <a:xfrm>
            <a:off x="640080" y="6583680"/>
            <a:ext cx="10972800" cy="228600"/>
          </a:xfrm>
          <a:prstGeom prst="rect">
            <a:avLst/>
          </a:prstGeom>
          <a:noFill/>
          <a:ln/>
        </p:spPr>
        <p:txBody>
          <a:bodyPr wrap="square" rtlCol="0" anchor="ctr"/>
          <a:lstStyle/>
          <a:p>
            <a:pPr indent="0" marL="0">
              <a:buNone/>
            </a:pPr>
            <a:r>
              <a:rPr lang="en-US" sz="1300" i="1" dirty="0">
                <a:solidFill>
                  <a:srgbClr val="FFFFFF"/>
                </a:solidFill>
                <a:latin typeface="Georgia" pitchFamily="34" charset="0"/>
                <a:ea typeface="Georgia" pitchFamily="34" charset="-122"/>
                <a:cs typeface="Georgia" pitchFamily="34" charset="-120"/>
              </a:rPr>
              <a:t>Thanks.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2026-05-07T14:07:28Z</dcterms:created>
  <dcterms:modified xsi:type="dcterms:W3CDTF">2026-05-07T14:07:28Z</dcterms:modified>
</cp:coreProperties>
</file>