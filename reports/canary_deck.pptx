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33"/>
        </a:solidFill>
      </p:bgPr>
    </p:bg>
    <p:spTree>
      <p:nvGrpSpPr>
        <p:cNvPr id="1" name=""/>
        <p:cNvGrpSpPr/>
        <p:nvPr/>
      </p:nvGrpSpPr>
      <p:grpSpPr>
        <a:xfrm>
          <a:off x="0" y="0"/>
          <a:ext cx="0" cy="0"/>
          <a:chOff x="0" y="0"/>
          <a:chExt cx="0" cy="0"/>
        </a:xfrm>
      </p:grpSpPr>
      <p:sp>
        <p:nvSpPr>
          <p:cNvPr id="2" name="Text 0"/>
          <p:cNvSpPr/>
          <p:nvPr/>
        </p:nvSpPr>
        <p:spPr>
          <a:xfrm>
            <a:off x="640080" y="1280160"/>
            <a:ext cx="10972800" cy="548640"/>
          </a:xfrm>
          <a:prstGeom prst="rect">
            <a:avLst/>
          </a:prstGeom>
          <a:noFill/>
          <a:ln/>
        </p:spPr>
        <p:txBody>
          <a:bodyPr wrap="square" rtlCol="0" anchor="ctr"/>
          <a:lstStyle/>
          <a:p>
            <a:pPr indent="0" marL="0">
              <a:buNone/>
            </a:pPr>
            <a:r>
              <a:rPr lang="en-US" sz="1400" b="1" spc="1200" kern="0" dirty="0">
                <a:solidFill>
                  <a:srgbClr val="D4A017"/>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920240"/>
            <a:ext cx="10972800" cy="1920240"/>
          </a:xfrm>
          <a:prstGeom prst="rect">
            <a:avLst/>
          </a:prstGeom>
          <a:noFill/>
          <a:ln/>
        </p:spPr>
        <p:txBody>
          <a:bodyPr wrap="square" rtlCol="0" anchor="t"/>
          <a:lstStyle/>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Can a computer reading the words in a 10-K</a:t>
            </a:r>
            <a:endParaRPr lang="en-US" sz="3600" dirty="0"/>
          </a:p>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flag the companies that turned out to be frauds?</a:t>
            </a:r>
            <a:endParaRPr lang="en-US" sz="3600" dirty="0"/>
          </a:p>
        </p:txBody>
      </p:sp>
      <p:sp>
        <p:nvSpPr>
          <p:cNvPr id="4" name="Shape 2"/>
          <p:cNvSpPr/>
          <p:nvPr/>
        </p:nvSpPr>
        <p:spPr>
          <a:xfrm>
            <a:off x="640080" y="4114800"/>
            <a:ext cx="1097280" cy="45720"/>
          </a:xfrm>
          <a:prstGeom prst="rect">
            <a:avLst/>
          </a:prstGeom>
          <a:solidFill>
            <a:srgbClr val="D4A017"/>
          </a:solidFill>
          <a:ln w="12700">
            <a:solidFill>
              <a:srgbClr val="D4A017"/>
            </a:solidFill>
            <a:prstDash val="solid"/>
          </a:ln>
        </p:spPr>
      </p:sp>
      <p:sp>
        <p:nvSpPr>
          <p:cNvPr id="5" name="Text 3"/>
          <p:cNvSpPr/>
          <p:nvPr/>
        </p:nvSpPr>
        <p:spPr>
          <a:xfrm>
            <a:off x="640080" y="4297680"/>
            <a:ext cx="10972800" cy="457200"/>
          </a:xfrm>
          <a:prstGeom prst="rect">
            <a:avLst/>
          </a:prstGeom>
          <a:noFill/>
          <a:ln/>
        </p:spPr>
        <p:txBody>
          <a:bodyPr wrap="square" rtlCol="0" anchor="ctr"/>
          <a:lstStyle/>
          <a:p>
            <a:pPr indent="0" marL="0">
              <a:buNone/>
            </a:pPr>
            <a:r>
              <a:rPr lang="en-US" sz="1800" i="1" dirty="0">
                <a:solidFill>
                  <a:srgbClr val="CFD8E8"/>
                </a:solidFill>
                <a:latin typeface="Georgia" pitchFamily="34" charset="0"/>
                <a:ea typeface="Georgia" pitchFamily="34" charset="-122"/>
                <a:cs typeface="Georgia" pitchFamily="34" charset="-120"/>
              </a:rPr>
              <a:t>A pre-registered single-signal novelty study on SEC 10-K MD&amp;A text.</a:t>
            </a:r>
            <a:endParaRPr lang="en-US" sz="1800" dirty="0"/>
          </a:p>
        </p:txBody>
      </p:sp>
      <p:sp>
        <p:nvSpPr>
          <p:cNvPr id="6" name="Text 4"/>
          <p:cNvSpPr/>
          <p:nvPr/>
        </p:nvSpPr>
        <p:spPr>
          <a:xfrm>
            <a:off x="640080" y="4800600"/>
            <a:ext cx="10972800" cy="640080"/>
          </a:xfrm>
          <a:prstGeom prst="rect">
            <a:avLst/>
          </a:prstGeom>
          <a:noFill/>
          <a:ln/>
        </p:spPr>
        <p:txBody>
          <a:bodyPr wrap="square" rtlCol="0" anchor="ctr"/>
          <a:lstStyle/>
          <a:p>
            <a:pPr indent="0" marL="0">
              <a:lnSpc>
                <a:spcPct val="125000"/>
              </a:lnSpc>
              <a:buNone/>
            </a:pPr>
            <a:r>
              <a:rPr lang="en-US" sz="1400" i="1" dirty="0">
                <a:solidFill>
                  <a:srgbClr val="D4A017"/>
                </a:solidFill>
                <a:latin typeface="Georgia" pitchFamily="34" charset="0"/>
                <a:ea typeface="Georgia" pitchFamily="34" charset="-122"/>
                <a:cs typeface="Georgia" pitchFamily="34" charset="-120"/>
              </a:rPr>
              <a:t>Primary contribution: a pre-registered null result with a baseline that beat the proposed model — exactly the artifact the field claims to want and rarely produces.</a:t>
            </a:r>
            <a:endParaRPr lang="en-US" sz="1400" dirty="0"/>
          </a:p>
        </p:txBody>
      </p:sp>
      <p:sp>
        <p:nvSpPr>
          <p:cNvPr id="7" name="Text 5"/>
          <p:cNvSpPr/>
          <p:nvPr/>
        </p:nvSpPr>
        <p:spPr>
          <a:xfrm>
            <a:off x="640080" y="5760720"/>
            <a:ext cx="109728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sp>
        <p:nvSpPr>
          <p:cNvPr id="8" name="Text 6"/>
          <p:cNvSpPr/>
          <p:nvPr/>
        </p:nvSpPr>
        <p:spPr>
          <a:xfrm>
            <a:off x="640080" y="6126480"/>
            <a:ext cx="10972800" cy="274320"/>
          </a:xfrm>
          <a:prstGeom prst="rect">
            <a:avLst/>
          </a:prstGeom>
          <a:noFill/>
          <a:ln/>
        </p:spPr>
        <p:txBody>
          <a:bodyPr wrap="square" rtlCol="0" anchor="ctr"/>
          <a:lstStyle/>
          <a:p>
            <a:pPr indent="0" marL="0">
              <a:buNone/>
            </a:pPr>
            <a:r>
              <a:rPr lang="en-US" sz="1100" dirty="0">
                <a:solidFill>
                  <a:srgbClr val="D4A017"/>
                </a:solidFill>
                <a:latin typeface="Calibri" pitchFamily="34" charset="0"/>
                <a:ea typeface="Calibri" pitchFamily="34" charset="-122"/>
                <a:cs typeface="Calibri" pitchFamily="34" charset="-120"/>
              </a:rPr>
              <a:t>github.com/ArseniiChan/canary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D4A017"/>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0E1A33"/>
                </a:solidFill>
                <a:latin typeface="Georgia" pitchFamily="34" charset="0"/>
                <a:ea typeface="Georgia" pitchFamily="34" charset="-122"/>
                <a:cs typeface="Georgia" pitchFamily="34" charset="-120"/>
              </a:rPr>
              <a:t>Does an unsupervised autoencoder trained on industry-and-year-matched clean 10-K MD&amp;A text assign elevated reconstruction error to known historical fraud filings, under strictly out-of-sample evaluation?</a:t>
            </a:r>
            <a:endParaRPr lang="en-US" sz="2600" dirty="0"/>
          </a:p>
        </p:txBody>
      </p:sp>
      <p:sp>
        <p:nvSpPr>
          <p:cNvPr id="6" name="Shape 4"/>
          <p:cNvSpPr/>
          <p:nvPr/>
        </p:nvSpPr>
        <p:spPr>
          <a:xfrm>
            <a:off x="640080" y="4114800"/>
            <a:ext cx="1097280" cy="36576"/>
          </a:xfrm>
          <a:prstGeom prst="rect">
            <a:avLst/>
          </a:prstGeom>
          <a:solidFill>
            <a:srgbClr val="D4A017"/>
          </a:solidFill>
          <a:ln w="12700">
            <a:solidFill>
              <a:srgbClr val="D4A017"/>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for four of five evaluable cohorts, NO for Enron (excluded by the rule itself), and the one cohort that ranks high (Lehman) is matched or exceeded by a 1990s TF-IDF baseline.</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LEDE — METHODOLOGICAL CONTRACT</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0E1A33"/>
                </a:solidFill>
                <a:latin typeface="Georgia" pitchFamily="34" charset="0"/>
                <a:ea typeface="Georgia" pitchFamily="34" charset="-122"/>
                <a:cs typeface="Georgia" pitchFamily="34" charset="-120"/>
              </a:rPr>
              <a:t>The work is the contract</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01 — Out-of-sample, always</a:t>
            </a:r>
            <a:endParaRPr lang="en-US" sz="1100" dirty="0"/>
          </a:p>
        </p:txBody>
      </p:sp>
      <p:sp>
        <p:nvSpPr>
          <p:cNvPr id="8" name="Shape 6"/>
          <p:cNvSpPr/>
          <p:nvPr/>
        </p:nvSpPr>
        <p:spPr>
          <a:xfrm>
            <a:off x="868680" y="2971800"/>
            <a:ext cx="365760" cy="36576"/>
          </a:xfrm>
          <a:prstGeom prst="rect">
            <a:avLst/>
          </a:prstGeom>
          <a:solidFill>
            <a:srgbClr val="D4A017"/>
          </a:solidFill>
          <a:ln w="12700">
            <a:solidFill>
              <a:srgbClr val="D4A017"/>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for each held-out fraud, the autoencoder is trained on clean filings from OTHER cohorts only. The fraud and its peers are never in the training set. Without this, peers carry an in-sample reconstruction-error advantage.</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02 — Time-controlled training</a:t>
            </a:r>
            <a:endParaRPr lang="en-US" sz="1100" dirty="0"/>
          </a:p>
        </p:txBody>
      </p:sp>
      <p:sp>
        <p:nvSpPr>
          <p:cNvPr id="12" name="Shape 10"/>
          <p:cNvSpPr/>
          <p:nvPr/>
        </p:nvSpPr>
        <p:spPr>
          <a:xfrm>
            <a:off x="4526280" y="2971800"/>
            <a:ext cx="365760" cy="36576"/>
          </a:xfrm>
          <a:prstGeom prst="rect">
            <a:avLst/>
          </a:prstGeom>
          <a:solidFill>
            <a:srgbClr val="D4A017"/>
          </a:solidFill>
          <a:ln w="12700">
            <a:solidFill>
              <a:srgbClr val="D4A017"/>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 that fraud's filing date are eligible. The model's representation of "clean" cannot be contaminated by post-fraud disclosure language.</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03 — Single pass, no tuning</a:t>
            </a:r>
            <a:endParaRPr lang="en-US" sz="1100" dirty="0"/>
          </a:p>
        </p:txBody>
      </p:sp>
      <p:sp>
        <p:nvSpPr>
          <p:cNvPr id="16" name="Shape 14"/>
          <p:cNvSpPr/>
          <p:nvPr/>
        </p:nvSpPr>
        <p:spPr>
          <a:xfrm>
            <a:off x="8183880" y="2971800"/>
            <a:ext cx="365760" cy="36576"/>
          </a:xfrm>
          <a:prstGeom prst="rect">
            <a:avLst/>
          </a:prstGeom>
          <a:solidFill>
            <a:srgbClr val="D4A017"/>
          </a:solidFill>
          <a:ln w="12700">
            <a:solidFill>
              <a:srgbClr val="D4A017"/>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 all committed and tagged before validation ran. scripts/06_validate.py runs ONCE. Whatever the numbers say, that is the result. No iteration, no excuses.</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If the contract holds, the result is informative whatever the numbers say. The discipline IS the deliverable.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ENRON EXCLUDED BY THE RULE</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600" b="1" dirty="0">
                <a:solidFill>
                  <a:srgbClr val="0E1A33"/>
                </a:solidFill>
                <a:latin typeface="Georgia" pitchFamily="34" charset="0"/>
                <a:ea typeface="Georgia" pitchFamily="34" charset="-122"/>
                <a:cs typeface="Georgia" pitchFamily="34" charset="-120"/>
              </a:rPr>
              <a:t>One detectable. Four indistinguishable. One excluded by design.</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657600"/>
        </p:xfrm>
        <a:graphic>
          <a:graphicData uri="http://schemas.openxmlformats.org/drawingml/2006/table">
            <a:tbl>
              <a:tblPr/>
              <a:tblGrid>
                <a:gridCol w="2286000"/>
                <a:gridCol w="914400"/>
                <a:gridCol w="1280160"/>
                <a:gridCol w="914400"/>
                <a:gridCol w="1005840"/>
                <a:gridCol w="914400"/>
              </a:tblGrid>
              <a:tr h="36576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Cohort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Rank</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MW p</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95% CI</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Train sents</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r>
              <a:tr h="411480">
                <a:tc>
                  <a:txBody>
                    <a:bodyPr/>
                    <a:lstStyle/>
                    <a:p>
                      <a:pPr indent="0" marL="0">
                        <a:buNone/>
                      </a:pPr>
                      <a:r>
                        <a:rPr lang="en-US" sz="1200" b="1" dirty="0">
                          <a:solidFill>
                            <a:srgbClr val="0E1A33"/>
                          </a:solidFill>
                          <a:latin typeface="Calibri" pitchFamily="34" charset="0"/>
                          <a:ea typeface="Calibri" pitchFamily="34" charset="-122"/>
                          <a:cs typeface="Calibri" pitchFamily="34" charset="-120"/>
                        </a:rPr>
                        <a:t>Lehman (LEH) — FY2007  ⚑</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rgbClr val="0E1A33"/>
                          </a:solidFill>
                          <a:latin typeface="Calibri" pitchFamily="34" charset="0"/>
                          <a:ea typeface="Calibri" pitchFamily="34" charset="-122"/>
                          <a:cs typeface="Calibri" pitchFamily="34" charset="-120"/>
                        </a:rPr>
                        <a:t>3 / 13</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1.3 × 10⁻⁹</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+0.12 (small)</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 6]</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3,367</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HealthSouth (HRC)</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7 / 12</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−0.17</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[4, 10]</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2,283</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Valeant (VRX)</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8 / 13</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−0.19</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[5, 11]</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4,327</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Tyco (TYC)</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9 / 13</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−0.14</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[6, 12]</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861</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WorldCom (WCOM)</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12 / 13</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[10, 13]</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1,477</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200" i="1" dirty="0">
                          <a:solidFill>
                            <a:srgbClr val="555555"/>
                          </a:solidFill>
                          <a:latin typeface="Calibri" pitchFamily="34" charset="0"/>
                          <a:ea typeface="Calibri" pitchFamily="34" charset="-122"/>
                          <a:cs typeface="Calibri" pitchFamily="34" charset="-120"/>
                        </a:rPr>
                        <a:t>Enron (ENE) — FY2000</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i="1" dirty="0">
                          <a:solidFill>
                            <a:srgbClr val="5555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i="1" dirty="0">
                          <a:solidFill>
                            <a:srgbClr val="5555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i="1" dirty="0">
                          <a:solidFill>
                            <a:srgbClr val="5555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i="1" dirty="0">
                          <a:solidFill>
                            <a:srgbClr val="5555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i="1" dirty="0">
                          <a:solidFill>
                            <a:srgbClr val="5555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6576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14630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8366760" y="402336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Enron is excluded by the rule itself</a:t>
            </a:r>
            <a:endParaRPr lang="en-US" sz="1100" dirty="0"/>
          </a:p>
        </p:txBody>
      </p:sp>
      <p:sp>
        <p:nvSpPr>
          <p:cNvPr id="11" name="Shape 8"/>
          <p:cNvSpPr/>
          <p:nvPr/>
        </p:nvSpPr>
        <p:spPr>
          <a:xfrm>
            <a:off x="8366760" y="4343400"/>
            <a:ext cx="365760" cy="36576"/>
          </a:xfrm>
          <a:prstGeom prst="rect">
            <a:avLst/>
          </a:prstGeom>
          <a:solidFill>
            <a:srgbClr val="5B7BB0"/>
          </a:solidFill>
          <a:ln w="12700">
            <a:solidFill>
              <a:srgbClr val="5B7BB0"/>
            </a:solidFill>
            <a:prstDash val="solid"/>
          </a:ln>
        </p:spPr>
      </p:sp>
      <p:sp>
        <p:nvSpPr>
          <p:cNvPr id="12" name="Text 9"/>
          <p:cNvSpPr/>
          <p:nvPr/>
        </p:nvSpPr>
        <p:spPr>
          <a:xfrm>
            <a:off x="8366760" y="4526280"/>
            <a:ext cx="3200400" cy="914400"/>
          </a:xfrm>
          <a:prstGeom prst="rect">
            <a:avLst/>
          </a:prstGeom>
          <a:noFill/>
          <a:ln/>
        </p:spPr>
        <p:txBody>
          <a:bodyPr wrap="square" rtlCol="0" anchor="ctr"/>
          <a:lstStyle/>
          <a:p>
            <a:pPr indent="0" marL="0">
              <a:lnSpc>
                <a:spcPct val="130000"/>
              </a:lnSpc>
              <a:buNone/>
            </a:pPr>
            <a:r>
              <a:rPr lang="en-US" sz="1200" i="1" dirty="0">
                <a:solidFill>
                  <a:srgbClr val="1A1A1A"/>
                </a:solidFill>
                <a:latin typeface="Georgia" pitchFamily="34" charset="0"/>
                <a:ea typeface="Georgia" pitchFamily="34" charset="-122"/>
                <a:cs typeface="Georgia" pitchFamily="34" charset="-120"/>
              </a:rPr>
              <a:t>Filed 2001-04-02 — earlier than every peer in every other cohort. LOCO + time-controlled admits no eligible training data. Exclusion IS the finding.</a:t>
            </a:r>
            <a:endParaRPr lang="en-US" sz="1200" dirty="0"/>
          </a:p>
        </p:txBody>
      </p:sp>
      <p:sp>
        <p:nvSpPr>
          <p:cNvPr id="13" name="Text 10"/>
          <p:cNvSpPr/>
          <p:nvPr/>
        </p:nvSpPr>
        <p:spPr>
          <a:xfrm>
            <a:off x="640080" y="5623560"/>
            <a:ext cx="10972800" cy="548640"/>
          </a:xfrm>
          <a:prstGeom prst="rect">
            <a:avLst/>
          </a:prstGeom>
          <a:noFill/>
          <a:ln/>
        </p:spPr>
        <p:txBody>
          <a:bodyPr wrap="square" rtlCol="0" anchor="ctr"/>
          <a:lstStyle/>
          <a:p>
            <a:pPr indent="0" marL="0">
              <a:lnSpc>
                <a:spcPct val="120000"/>
              </a:lnSpc>
              <a:buNone/>
            </a:pPr>
            <a:r>
              <a:rPr lang="en-US" sz="1300" i="1" dirty="0">
                <a:solidFill>
                  <a:srgbClr val="555555"/>
                </a:solidFill>
                <a:latin typeface="Georgia" pitchFamily="34" charset="0"/>
                <a:ea typeface="Georgia" pitchFamily="34" charset="-122"/>
                <a:cs typeface="Georgia" pitchFamily="34" charset="-120"/>
              </a:rPr>
              <a:t>⚑ = Lehman is the only cohort above chance — but a 1990s baseline beats the autoencoder there too. See slide 5. Aggregate hit@k falls at or below random. The aggregate is entirely Lehman.</a:t>
            </a:r>
            <a:endParaRPr lang="en-US" sz="1300" dirty="0"/>
          </a:p>
        </p:txBody>
      </p:sp>
      <p:sp>
        <p:nvSpPr>
          <p:cNvPr id="14" name="Text 11"/>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5" name="Text 12"/>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400" b="1" dirty="0">
                <a:solidFill>
                  <a:srgbClr val="0E1A33"/>
                </a:solidFill>
                <a:latin typeface="Georgia" pitchFamily="34" charset="0"/>
                <a:ea typeface="Georgia" pitchFamily="34" charset="-122"/>
                <a:cs typeface="Georgia" pitchFamily="34" charset="-120"/>
              </a:rPr>
              <a:t>A 1990s baseline matched or beat the autoencoder on every cohort.</a:t>
            </a:r>
            <a:endParaRPr lang="en-US" sz="2400" dirty="0"/>
          </a:p>
        </p:txBody>
      </p:sp>
      <p:pic>
        <p:nvPicPr>
          <p:cNvPr id="5" name="Image 0" descr="/Users/arseniichan/Documents/Claude/Projects/CSC448/canary/reports/figures/ae_vs_tfidf_rank.png">    </p:cNvPr>
          <p:cNvPicPr>
            <a:picLocks noChangeAspect="1"/>
          </p:cNvPicPr>
          <p:nvPr/>
        </p:nvPicPr>
        <p:blipFill>
          <a:blip r:embed="rId1"/>
          <a:stretch>
            <a:fillRect/>
          </a:stretch>
        </p:blipFill>
        <p:spPr>
          <a:xfrm>
            <a:off x="548640" y="1828800"/>
            <a:ext cx="5852160" cy="3657600"/>
          </a:xfrm>
          <a:prstGeom prst="rect">
            <a:avLst/>
          </a:prstGeom>
        </p:spPr>
      </p:pic>
      <p:pic>
        <p:nvPicPr>
          <p:cNvPr id="6" name="Image 1" descr="/Users/arseniichan/Documents/Claude/Projects/CSC448/canary/reports/figures/ae_vs_tfidf_mw.png">    </p:cNvPr>
          <p:cNvPicPr>
            <a:picLocks noChangeAspect="1"/>
          </p:cNvPicPr>
          <p:nvPr/>
        </p:nvPicPr>
        <p:blipFill>
          <a:blip r:embed="rId2"/>
          <a:stretch>
            <a:fillRect/>
          </a:stretch>
        </p:blipFill>
        <p:spPr>
          <a:xfrm>
            <a:off x="6583680" y="1828800"/>
            <a:ext cx="5486400" cy="3657600"/>
          </a:xfrm>
          <a:prstGeom prst="rect">
            <a:avLst/>
          </a:prstGeom>
        </p:spPr>
      </p:pic>
      <p:sp>
        <p:nvSpPr>
          <p:cNvPr id="7" name="Text 3"/>
          <p:cNvSpPr/>
          <p:nvPr/>
        </p:nvSpPr>
        <p:spPr>
          <a:xfrm>
            <a:off x="640080" y="562356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On the one cohort with any signal at all, the 1990s baseline is stronger: rank 1/13 vs 3/13, p ≈ 5×10⁻²² vs 1.3×10⁻⁹, effect +0.19 vs +0.12. Aggregate hit@5 = 0.40 (TF-IDF) vs 0.20 (autoencoder). The pre-registered model is not the signal carrier.</a:t>
            </a:r>
            <a:endParaRPr lang="en-US" sz="1300" dirty="0"/>
          </a:p>
        </p:txBody>
      </p:sp>
      <p:sp>
        <p:nvSpPr>
          <p:cNvPr id="8" name="Text 4"/>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5"/>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ANTICIPATED QUESTIONS</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400" b="1" dirty="0">
                <a:solidFill>
                  <a:srgbClr val="0E1A33"/>
                </a:solidFill>
                <a:latin typeface="Georgia" pitchFamily="34" charset="0"/>
                <a:ea typeface="Georgia" pitchFamily="34" charset="-122"/>
                <a:cs typeface="Georgia" pitchFamily="34" charset="-120"/>
              </a:rPr>
              <a:t>The questions a sharp reviewer asks first — pre-empted.</a:t>
            </a:r>
            <a:endParaRPr lang="en-US" sz="2400" dirty="0"/>
          </a:p>
        </p:txBody>
      </p:sp>
      <p:sp>
        <p:nvSpPr>
          <p:cNvPr id="5" name="Shape 3"/>
          <p:cNvSpPr/>
          <p:nvPr/>
        </p:nvSpPr>
        <p:spPr>
          <a:xfrm>
            <a:off x="640080" y="1783080"/>
            <a:ext cx="11064240" cy="1097280"/>
          </a:xfrm>
          <a:prstGeom prst="rect">
            <a:avLst/>
          </a:prstGeom>
          <a:solidFill>
            <a:srgbClr val="FFFFFF"/>
          </a:solidFill>
          <a:ln w="6350">
            <a:solidFill>
              <a:srgbClr val="D9D9D9"/>
            </a:solidFill>
            <a:prstDash val="solid"/>
          </a:ln>
        </p:spPr>
      </p:sp>
      <p:sp>
        <p:nvSpPr>
          <p:cNvPr id="6" name="Shape 4"/>
          <p:cNvSpPr/>
          <p:nvPr/>
        </p:nvSpPr>
        <p:spPr>
          <a:xfrm>
            <a:off x="640080" y="1783080"/>
            <a:ext cx="36576" cy="1097280"/>
          </a:xfrm>
          <a:prstGeom prst="rect">
            <a:avLst/>
          </a:prstGeom>
          <a:solidFill>
            <a:srgbClr val="D4A017"/>
          </a:solidFill>
          <a:ln w="12700">
            <a:solidFill>
              <a:srgbClr val="D4A017"/>
            </a:solidFill>
            <a:prstDash val="solid"/>
          </a:ln>
        </p:spPr>
      </p:sp>
      <p:sp>
        <p:nvSpPr>
          <p:cNvPr id="7" name="Text 5"/>
          <p:cNvSpPr/>
          <p:nvPr/>
        </p:nvSpPr>
        <p:spPr>
          <a:xfrm>
            <a:off x="777240" y="187452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8" name="Text 6"/>
          <p:cNvSpPr/>
          <p:nvPr/>
        </p:nvSpPr>
        <p:spPr>
          <a:xfrm>
            <a:off x="1280160" y="187452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Did you check a trivial baseline?</a:t>
            </a:r>
            <a:endParaRPr lang="en-US" sz="1400" dirty="0"/>
          </a:p>
        </p:txBody>
      </p:sp>
      <p:sp>
        <p:nvSpPr>
          <p:cNvPr id="9" name="Text 7"/>
          <p:cNvSpPr/>
          <p:nvPr/>
        </p:nvSpPr>
        <p:spPr>
          <a:xfrm>
            <a:off x="1280160" y="2240280"/>
            <a:ext cx="10241280" cy="5943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 TF-IDF + truncated-SVD with the same bottleneck dimension and the same training corpora. It matches or beats the autoencoder on every cohort. The honest claim is that the autoencoder adds nothing here. Slide 5.</a:t>
            </a:r>
            <a:endParaRPr lang="en-US" sz="1200" dirty="0"/>
          </a:p>
        </p:txBody>
      </p:sp>
      <p:sp>
        <p:nvSpPr>
          <p:cNvPr id="10" name="Shape 8"/>
          <p:cNvSpPr/>
          <p:nvPr/>
        </p:nvSpPr>
        <p:spPr>
          <a:xfrm>
            <a:off x="640080" y="2971800"/>
            <a:ext cx="11064240" cy="1097280"/>
          </a:xfrm>
          <a:prstGeom prst="rect">
            <a:avLst/>
          </a:prstGeom>
          <a:solidFill>
            <a:srgbClr val="FFFFFF"/>
          </a:solidFill>
          <a:ln w="6350">
            <a:solidFill>
              <a:srgbClr val="D9D9D9"/>
            </a:solidFill>
            <a:prstDash val="solid"/>
          </a:ln>
        </p:spPr>
      </p:sp>
      <p:sp>
        <p:nvSpPr>
          <p:cNvPr id="11" name="Shape 9"/>
          <p:cNvSpPr/>
          <p:nvPr/>
        </p:nvSpPr>
        <p:spPr>
          <a:xfrm>
            <a:off x="640080" y="2971800"/>
            <a:ext cx="36576" cy="1097280"/>
          </a:xfrm>
          <a:prstGeom prst="rect">
            <a:avLst/>
          </a:prstGeom>
          <a:solidFill>
            <a:srgbClr val="D4A017"/>
          </a:solidFill>
          <a:ln w="12700">
            <a:solidFill>
              <a:srgbClr val="D4A017"/>
            </a:solidFill>
            <a:prstDash val="solid"/>
          </a:ln>
        </p:spPr>
      </p:sp>
      <p:sp>
        <p:nvSpPr>
          <p:cNvPr id="12" name="Text 10"/>
          <p:cNvSpPr/>
          <p:nvPr/>
        </p:nvSpPr>
        <p:spPr>
          <a:xfrm>
            <a:off x="777240" y="306324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13" name="Text 11"/>
          <p:cNvSpPr/>
          <p:nvPr/>
        </p:nvSpPr>
        <p:spPr>
          <a:xfrm>
            <a:off x="1280160" y="306324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Why is Enron excluded — isn't that convenient?</a:t>
            </a:r>
            <a:endParaRPr lang="en-US" sz="1400" dirty="0"/>
          </a:p>
        </p:txBody>
      </p:sp>
      <p:sp>
        <p:nvSpPr>
          <p:cNvPr id="14" name="Text 12"/>
          <p:cNvSpPr/>
          <p:nvPr/>
        </p:nvSpPr>
        <p:spPr>
          <a:xfrm>
            <a:off x="1280160" y="3429000"/>
            <a:ext cx="10241280" cy="5943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LOCO + time-controlled rule admits no training data for Enron because it was filed earliest. The exclusion is the rule biting back. Owned as a design error in §7.1, not a workaround.</a:t>
            </a:r>
            <a:endParaRPr lang="en-US" sz="1200" dirty="0"/>
          </a:p>
        </p:txBody>
      </p:sp>
      <p:sp>
        <p:nvSpPr>
          <p:cNvPr id="15" name="Shape 13"/>
          <p:cNvSpPr/>
          <p:nvPr/>
        </p:nvSpPr>
        <p:spPr>
          <a:xfrm>
            <a:off x="640080" y="4160520"/>
            <a:ext cx="11064240" cy="1097280"/>
          </a:xfrm>
          <a:prstGeom prst="rect">
            <a:avLst/>
          </a:prstGeom>
          <a:solidFill>
            <a:srgbClr val="FFFFFF"/>
          </a:solidFill>
          <a:ln w="6350">
            <a:solidFill>
              <a:srgbClr val="D9D9D9"/>
            </a:solidFill>
            <a:prstDash val="solid"/>
          </a:ln>
        </p:spPr>
      </p:sp>
      <p:sp>
        <p:nvSpPr>
          <p:cNvPr id="16" name="Shape 14"/>
          <p:cNvSpPr/>
          <p:nvPr/>
        </p:nvSpPr>
        <p:spPr>
          <a:xfrm>
            <a:off x="640080" y="4160520"/>
            <a:ext cx="36576" cy="1097280"/>
          </a:xfrm>
          <a:prstGeom prst="rect">
            <a:avLst/>
          </a:prstGeom>
          <a:solidFill>
            <a:srgbClr val="D4A017"/>
          </a:solidFill>
          <a:ln w="12700">
            <a:solidFill>
              <a:srgbClr val="D4A017"/>
            </a:solidFill>
            <a:prstDash val="solid"/>
          </a:ln>
        </p:spPr>
      </p:sp>
      <p:sp>
        <p:nvSpPr>
          <p:cNvPr id="17" name="Text 15"/>
          <p:cNvSpPr/>
          <p:nvPr/>
        </p:nvSpPr>
        <p:spPr>
          <a:xfrm>
            <a:off x="777240" y="425196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18" name="Text 16"/>
          <p:cNvSpPr/>
          <p:nvPr/>
        </p:nvSpPr>
        <p:spPr>
          <a:xfrm>
            <a:off x="1280160" y="425196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Lehman has the largest training corpus by 4× — is that the signal?</a:t>
            </a:r>
            <a:endParaRPr lang="en-US" sz="1400" dirty="0"/>
          </a:p>
        </p:txBody>
      </p:sp>
      <p:sp>
        <p:nvSpPr>
          <p:cNvPr id="19" name="Text 17"/>
          <p:cNvSpPr/>
          <p:nvPr/>
        </p:nvSpPr>
        <p:spPr>
          <a:xfrm>
            <a:off x="1280160" y="4617720"/>
            <a:ext cx="10241280" cy="5943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Real confound, named in §8. The post-hoc TF-IDF baseline produces the same Lehman-specific result, weakly arguing against “training conditions alone.” I report Lehman as n=1 with the confound named, and decline to claim a method.</a:t>
            </a:r>
            <a:endParaRPr lang="en-US" sz="1200" dirty="0"/>
          </a:p>
        </p:txBody>
      </p:sp>
      <p:sp>
        <p:nvSpPr>
          <p:cNvPr id="20" name="Shape 18"/>
          <p:cNvSpPr/>
          <p:nvPr/>
        </p:nvSpPr>
        <p:spPr>
          <a:xfrm>
            <a:off x="640080" y="5349240"/>
            <a:ext cx="11064240" cy="1097280"/>
          </a:xfrm>
          <a:prstGeom prst="rect">
            <a:avLst/>
          </a:prstGeom>
          <a:solidFill>
            <a:srgbClr val="FFFFFF"/>
          </a:solidFill>
          <a:ln w="6350">
            <a:solidFill>
              <a:srgbClr val="D9D9D9"/>
            </a:solidFill>
            <a:prstDash val="solid"/>
          </a:ln>
        </p:spPr>
      </p:sp>
      <p:sp>
        <p:nvSpPr>
          <p:cNvPr id="21" name="Shape 19"/>
          <p:cNvSpPr/>
          <p:nvPr/>
        </p:nvSpPr>
        <p:spPr>
          <a:xfrm>
            <a:off x="640080" y="5349240"/>
            <a:ext cx="36576" cy="1097280"/>
          </a:xfrm>
          <a:prstGeom prst="rect">
            <a:avLst/>
          </a:prstGeom>
          <a:solidFill>
            <a:srgbClr val="D4A017"/>
          </a:solidFill>
          <a:ln w="12700">
            <a:solidFill>
              <a:srgbClr val="D4A017"/>
            </a:solidFill>
            <a:prstDash val="solid"/>
          </a:ln>
        </p:spPr>
      </p:sp>
      <p:sp>
        <p:nvSpPr>
          <p:cNvPr id="22" name="Text 20"/>
          <p:cNvSpPr/>
          <p:nvPr/>
        </p:nvSpPr>
        <p:spPr>
          <a:xfrm>
            <a:off x="777240" y="544068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23" name="Text 21"/>
          <p:cNvSpPr/>
          <p:nvPr/>
        </p:nvSpPr>
        <p:spPr>
          <a:xfrm>
            <a:off x="1280160" y="544068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24" name="Text 22"/>
          <p:cNvSpPr/>
          <p:nvPr/>
        </p:nvSpPr>
        <p:spPr>
          <a:xfrm>
            <a:off x="1280160" y="5806440"/>
            <a:ext cx="10241280" cy="5943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 masked 93 such mentions with [ENTITY] and re-scored. Lehman's rank held at 3/13 (delta = 0). Literal-name leakage rejected; topical leakage remains disclosed but unaddressed.</a:t>
            </a:r>
            <a:endParaRPr lang="en-US" sz="1200" dirty="0"/>
          </a:p>
        </p:txBody>
      </p:sp>
      <p:sp>
        <p:nvSpPr>
          <p:cNvPr id="25" name="Text 23"/>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6" name="Text 24"/>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A33"/>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D4A017"/>
                </a:solidFill>
                <a:latin typeface="Calibri" pitchFamily="34" charset="0"/>
                <a:ea typeface="Calibri" pitchFamily="34" charset="-122"/>
                <a:cs typeface="Calibri" pitchFamily="34" charset="-120"/>
              </a:rPr>
              <a:t>THREE THINGS THIS PROJECT TAUGHT ME</a:t>
            </a:r>
            <a:endParaRPr lang="en-US" sz="1200" dirty="0"/>
          </a:p>
        </p:txBody>
      </p:sp>
      <p:sp>
        <p:nvSpPr>
          <p:cNvPr id="3" name="Shape 1"/>
          <p:cNvSpPr/>
          <p:nvPr/>
        </p:nvSpPr>
        <p:spPr>
          <a:xfrm>
            <a:off x="640080" y="914400"/>
            <a:ext cx="548640" cy="36576"/>
          </a:xfrm>
          <a:prstGeom prst="rect">
            <a:avLst/>
          </a:prstGeom>
          <a:solidFill>
            <a:srgbClr val="D4A017"/>
          </a:solidFill>
          <a:ln w="12700">
            <a:solidFill>
              <a:srgbClr val="D4A017"/>
            </a:solidFill>
            <a:prstDash val="solid"/>
          </a:ln>
        </p:spPr>
      </p:sp>
      <p:sp>
        <p:nvSpPr>
          <p:cNvPr id="4" name="Text 2"/>
          <p:cNvSpPr/>
          <p:nvPr/>
        </p:nvSpPr>
        <p:spPr>
          <a:xfrm>
            <a:off x="640080" y="1280160"/>
            <a:ext cx="914400" cy="640080"/>
          </a:xfrm>
          <a:prstGeom prst="rect">
            <a:avLst/>
          </a:prstGeom>
          <a:noFill/>
          <a:ln/>
        </p:spPr>
        <p:txBody>
          <a:bodyPr wrap="square" rtlCol="0" anchor="ctr"/>
          <a:lstStyle/>
          <a:p>
            <a:pPr indent="0" marL="0">
              <a:buNone/>
            </a:pPr>
            <a:r>
              <a:rPr lang="en-US" sz="3600" b="1" dirty="0">
                <a:solidFill>
                  <a:srgbClr val="D4A017"/>
                </a:solidFill>
                <a:latin typeface="Calibri" pitchFamily="34" charset="0"/>
                <a:ea typeface="Calibri" pitchFamily="34" charset="-122"/>
                <a:cs typeface="Calibri" pitchFamily="34" charset="-120"/>
              </a:rPr>
              <a:t>01</a:t>
            </a:r>
            <a:endParaRPr lang="en-US" sz="3600" dirty="0"/>
          </a:p>
        </p:txBody>
      </p:sp>
      <p:sp>
        <p:nvSpPr>
          <p:cNvPr id="5" name="Text 3"/>
          <p:cNvSpPr/>
          <p:nvPr/>
        </p:nvSpPr>
        <p:spPr>
          <a:xfrm>
            <a:off x="1554480" y="1280160"/>
            <a:ext cx="10058400" cy="54864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Pre-registration is load-bearing only if it survives contact with the data.</a:t>
            </a:r>
            <a:endParaRPr lang="en-US" sz="1800" dirty="0"/>
          </a:p>
        </p:txBody>
      </p:sp>
      <p:sp>
        <p:nvSpPr>
          <p:cNvPr id="6" name="Text 4"/>
          <p:cNvSpPr/>
          <p:nvPr/>
        </p:nvSpPr>
        <p:spPr>
          <a:xfrm>
            <a:off x="1554480" y="1783080"/>
            <a:ext cx="10058400" cy="777240"/>
          </a:xfrm>
          <a:prstGeom prst="rect">
            <a:avLst/>
          </a:prstGeom>
          <a:noFill/>
          <a:ln/>
        </p:spPr>
        <p:txBody>
          <a:bodyPr wrap="square" rtlCol="0" anchor="ctr"/>
          <a:lstStyle/>
          <a:p>
            <a:pPr indent="0" marL="0">
              <a:lnSpc>
                <a:spcPct val="130000"/>
              </a:lnSpc>
              <a:buNone/>
            </a:pPr>
            <a:r>
              <a:rPr lang="en-US" sz="1300" dirty="0">
                <a:solidFill>
                  <a:srgbClr val="CFD8E8"/>
                </a:solidFill>
                <a:latin typeface="Georgia" pitchFamily="34" charset="0"/>
                <a:ea typeface="Georgia" pitchFamily="34" charset="-122"/>
                <a:cs typeface="Georgia" pitchFamily="34" charset="-120"/>
              </a:rPr>
              <a:t>The frozen spec held. I did not iterate the autoencoder, did not redefine “clean,” did not retreat from the Enron exclusion when the result was uncomfortable. Without that contract, the same numbers would be a polite request to redesign.</a:t>
            </a:r>
            <a:endParaRPr lang="en-US" sz="1300" dirty="0"/>
          </a:p>
        </p:txBody>
      </p:sp>
      <p:sp>
        <p:nvSpPr>
          <p:cNvPr id="7" name="Text 5"/>
          <p:cNvSpPr/>
          <p:nvPr/>
        </p:nvSpPr>
        <p:spPr>
          <a:xfrm>
            <a:off x="640080" y="2651760"/>
            <a:ext cx="914400" cy="640080"/>
          </a:xfrm>
          <a:prstGeom prst="rect">
            <a:avLst/>
          </a:prstGeom>
          <a:noFill/>
          <a:ln/>
        </p:spPr>
        <p:txBody>
          <a:bodyPr wrap="square" rtlCol="0" anchor="ctr"/>
          <a:lstStyle/>
          <a:p>
            <a:pPr indent="0" marL="0">
              <a:buNone/>
            </a:pPr>
            <a:r>
              <a:rPr lang="en-US" sz="3600" b="1" dirty="0">
                <a:solidFill>
                  <a:srgbClr val="D4A017"/>
                </a:solidFill>
                <a:latin typeface="Calibri" pitchFamily="34" charset="0"/>
                <a:ea typeface="Calibri" pitchFamily="34" charset="-122"/>
                <a:cs typeface="Calibri" pitchFamily="34" charset="-120"/>
              </a:rPr>
              <a:t>02</a:t>
            </a:r>
            <a:endParaRPr lang="en-US" sz="3600" dirty="0"/>
          </a:p>
        </p:txBody>
      </p:sp>
      <p:sp>
        <p:nvSpPr>
          <p:cNvPr id="8" name="Text 6"/>
          <p:cNvSpPr/>
          <p:nvPr/>
        </p:nvSpPr>
        <p:spPr>
          <a:xfrm>
            <a:off x="1554480" y="2651760"/>
            <a:ext cx="10058400" cy="54864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A sharp baseline is not optional.</a:t>
            </a:r>
            <a:endParaRPr lang="en-US" sz="1800" dirty="0"/>
          </a:p>
        </p:txBody>
      </p:sp>
      <p:sp>
        <p:nvSpPr>
          <p:cNvPr id="9" name="Text 7"/>
          <p:cNvSpPr/>
          <p:nvPr/>
        </p:nvSpPr>
        <p:spPr>
          <a:xfrm>
            <a:off x="1554480" y="3154680"/>
            <a:ext cx="10058400" cy="777240"/>
          </a:xfrm>
          <a:prstGeom prst="rect">
            <a:avLst/>
          </a:prstGeom>
          <a:noFill/>
          <a:ln/>
        </p:spPr>
        <p:txBody>
          <a:bodyPr wrap="square" rtlCol="0" anchor="ctr"/>
          <a:lstStyle/>
          <a:p>
            <a:pPr indent="0" marL="0">
              <a:lnSpc>
                <a:spcPct val="130000"/>
              </a:lnSpc>
              <a:buNone/>
            </a:pPr>
            <a:r>
              <a:rPr lang="en-US" sz="1300" dirty="0">
                <a:solidFill>
                  <a:srgbClr val="CFD8E8"/>
                </a:solidFill>
                <a:latin typeface="Georgia" pitchFamily="34" charset="0"/>
                <a:ea typeface="Georgia" pitchFamily="34" charset="-122"/>
                <a:cs typeface="Georgia" pitchFamily="34" charset="-120"/>
              </a:rPr>
              <a:t>The most decisive result in this study is not the autoencoder's ranks but the post-hoc TF-IDF baseline matching them. A result that does not survive a baseline check is not a result.</a:t>
            </a:r>
            <a:endParaRPr lang="en-US" sz="1300" dirty="0"/>
          </a:p>
        </p:txBody>
      </p:sp>
      <p:sp>
        <p:nvSpPr>
          <p:cNvPr id="10" name="Text 8"/>
          <p:cNvSpPr/>
          <p:nvPr/>
        </p:nvSpPr>
        <p:spPr>
          <a:xfrm>
            <a:off x="640080" y="4023360"/>
            <a:ext cx="914400" cy="640080"/>
          </a:xfrm>
          <a:prstGeom prst="rect">
            <a:avLst/>
          </a:prstGeom>
          <a:noFill/>
          <a:ln/>
        </p:spPr>
        <p:txBody>
          <a:bodyPr wrap="square" rtlCol="0" anchor="ctr"/>
          <a:lstStyle/>
          <a:p>
            <a:pPr indent="0" marL="0">
              <a:buNone/>
            </a:pPr>
            <a:r>
              <a:rPr lang="en-US" sz="3600" b="1" dirty="0">
                <a:solidFill>
                  <a:srgbClr val="D4A017"/>
                </a:solidFill>
                <a:latin typeface="Calibri" pitchFamily="34" charset="0"/>
                <a:ea typeface="Calibri" pitchFamily="34" charset="-122"/>
                <a:cs typeface="Calibri" pitchFamily="34" charset="-120"/>
              </a:rPr>
              <a:t>03</a:t>
            </a:r>
            <a:endParaRPr lang="en-US" sz="3600" dirty="0"/>
          </a:p>
        </p:txBody>
      </p:sp>
      <p:sp>
        <p:nvSpPr>
          <p:cNvPr id="11" name="Text 9"/>
          <p:cNvSpPr/>
          <p:nvPr/>
        </p:nvSpPr>
        <p:spPr>
          <a:xfrm>
            <a:off x="1554480" y="4023360"/>
            <a:ext cx="10058400" cy="54864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If you own a design error, it becomes a checklist.</a:t>
            </a:r>
            <a:endParaRPr lang="en-US" sz="1800" dirty="0"/>
          </a:p>
        </p:txBody>
      </p:sp>
      <p:sp>
        <p:nvSpPr>
          <p:cNvPr id="12" name="Text 10"/>
          <p:cNvSpPr/>
          <p:nvPr/>
        </p:nvSpPr>
        <p:spPr>
          <a:xfrm>
            <a:off x="1554480" y="4526280"/>
            <a:ext cx="10058400" cy="777240"/>
          </a:xfrm>
          <a:prstGeom prst="rect">
            <a:avLst/>
          </a:prstGeom>
          <a:noFill/>
          <a:ln/>
        </p:spPr>
        <p:txBody>
          <a:bodyPr wrap="square" rtlCol="0" anchor="ctr"/>
          <a:lstStyle/>
          <a:p>
            <a:pPr indent="0" marL="0">
              <a:lnSpc>
                <a:spcPct val="130000"/>
              </a:lnSpc>
              <a:buNone/>
            </a:pPr>
            <a:r>
              <a:rPr lang="en-US" sz="1300" dirty="0">
                <a:solidFill>
                  <a:srgbClr val="CFD8E8"/>
                </a:solidFill>
                <a:latin typeface="Georgia" pitchFamily="34" charset="0"/>
                <a:ea typeface="Georgia" pitchFamily="34" charset="-122"/>
                <a:cs typeface="Georgia" pitchFamily="34" charset="-120"/>
              </a:rPr>
              <a:t>Enron's exclusion was a design error caught by the freeze, not missing data. Pre-flight check for the next iteration: enumerate exclusions BEFORE freezing the contract, not after. Falsifiable next experiment: same autoencoder, within-firm temporal delta — does Lehman's MD&amp;A look anomalous against Lehman's own prior-year MD&amp;A?</a:t>
            </a:r>
            <a:endParaRPr lang="en-US" sz="1300" dirty="0"/>
          </a:p>
        </p:txBody>
      </p:sp>
      <p:sp>
        <p:nvSpPr>
          <p:cNvPr id="13" name="Text 11"/>
          <p:cNvSpPr/>
          <p:nvPr/>
        </p:nvSpPr>
        <p:spPr>
          <a:xfrm>
            <a:off x="640080" y="5943600"/>
            <a:ext cx="10972800" cy="365760"/>
          </a:xfrm>
          <a:prstGeom prst="rect">
            <a:avLst/>
          </a:prstGeom>
          <a:noFill/>
          <a:ln/>
        </p:spPr>
        <p:txBody>
          <a:bodyPr wrap="square" rtlCol="0" anchor="ctr"/>
          <a:lstStyle/>
          <a:p>
            <a:pPr indent="0" marL="0">
              <a:buNone/>
            </a:pPr>
            <a:r>
              <a:rPr lang="en-US" sz="1300" dirty="0">
                <a:solidFill>
                  <a:srgbClr val="CFD8E8"/>
                </a:solidFill>
                <a:latin typeface="Calibri" pitchFamily="34" charset="0"/>
                <a:ea typeface="Calibri" pitchFamily="34" charset="-122"/>
                <a:cs typeface="Calibri" pitchFamily="34" charset="-120"/>
              </a:rPr>
              <a:t>Code &amp; data:  </a:t>
            </a:r>
            <a:pPr indent="0" marL="0">
              <a:buNone/>
            </a:pPr>
            <a:r>
              <a:rPr lang="en-US" sz="1300" b="1" dirty="0">
                <a:solidFill>
                  <a:srgbClr val="D4A017"/>
                </a:solidFill>
                <a:latin typeface="Calibri" pitchFamily="34" charset="0"/>
                <a:ea typeface="Calibri" pitchFamily="34" charset="-122"/>
                <a:cs typeface="Calibri" pitchFamily="34" charset="-120"/>
              </a:rPr>
              <a:t>github.com/ArseniiChan/canary</a:t>
            </a:r>
            <a:pPr indent="0" marL="0">
              <a:buNone/>
            </a:pPr>
            <a:r>
              <a:rPr lang="en-US" sz="1300" dirty="0">
                <a:solidFill>
                  <a:srgbClr val="CFD8E8"/>
                </a:solidFill>
                <a:latin typeface="Calibri" pitchFamily="34" charset="0"/>
                <a:ea typeface="Calibri" pitchFamily="34" charset="-122"/>
                <a:cs typeface="Calibri" pitchFamily="34" charset="-120"/>
              </a:rPr>
              <a:t>       ·       Frozen spec tag:  </a:t>
            </a:r>
            <a:pPr indent="0" marL="0">
              <a:buNone/>
            </a:pPr>
            <a:r>
              <a:rPr lang="en-US" sz="1300" b="1" dirty="0">
                <a:solidFill>
                  <a:srgbClr val="D4A017"/>
                </a:solidFill>
                <a:latin typeface="Calibri" pitchFamily="34" charset="0"/>
                <a:ea typeface="Calibri" pitchFamily="34" charset="-122"/>
                <a:cs typeface="Calibri" pitchFamily="34" charset="-120"/>
              </a:rPr>
              <a:t>validation-spec-frozen</a:t>
            </a:r>
            <a:endParaRPr lang="en-US" sz="1300" dirty="0"/>
          </a:p>
        </p:txBody>
      </p:sp>
      <p:sp>
        <p:nvSpPr>
          <p:cNvPr id="14" name="Text 12"/>
          <p:cNvSpPr/>
          <p:nvPr/>
        </p:nvSpPr>
        <p:spPr>
          <a:xfrm>
            <a:off x="640080" y="6309360"/>
            <a:ext cx="10972800" cy="365760"/>
          </a:xfrm>
          <a:prstGeom prst="rect">
            <a:avLst/>
          </a:prstGeom>
          <a:noFill/>
          <a:ln/>
        </p:spPr>
        <p:txBody>
          <a:bodyPr wrap="square" rtlCol="0" anchor="ctr"/>
          <a:lstStyle/>
          <a:p>
            <a:pPr indent="0" marL="0">
              <a:buNone/>
            </a:pPr>
            <a:r>
              <a:rPr lang="en-US" sz="1600" i="1" dirty="0">
                <a:solidFill>
                  <a:srgbClr val="FFFFFF"/>
                </a:solidFill>
                <a:latin typeface="Georgia" pitchFamily="34" charset="0"/>
                <a:ea typeface="Georgia" pitchFamily="34" charset="-122"/>
                <a:cs typeface="Georgia" pitchFamily="34" charset="-120"/>
              </a:rPr>
              <a:t>Thanks.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 CCNY —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 Pre-Registered Single-Signal Novelty Study on SEC 10-K MD&amp;A</dc:title>
  <dc:subject>PptxGenJS Presentation</dc:subject>
  <dc:creator>Arsenii Chan</dc:creator>
  <cp:lastModifiedBy>Arsenii Chan</cp:lastModifiedBy>
  <cp:revision>1</cp:revision>
  <dcterms:created xsi:type="dcterms:W3CDTF">2026-05-02T16:52:06Z</dcterms:created>
  <dcterms:modified xsi:type="dcterms:W3CDTF">2026-05-02T16:52:06Z</dcterms:modified>
</cp:coreProperties>
</file>